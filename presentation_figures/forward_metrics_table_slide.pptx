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20040" y="10972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 operators: core operation and test error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5669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679192" y="566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operation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443984" y="56692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 (dB)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500116" y="56692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56248" y="56692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12380" y="56692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RMSE (dB)</a:t>
            </a:r>
            <a:endParaRPr lang="en-US" sz="1100" dirty="0"/>
          </a:p>
        </p:txBody>
      </p:sp>
      <p:sp>
        <p:nvSpPr>
          <p:cNvPr id="9" name="Architecture 1"/>
          <p:cNvSpPr/>
          <p:nvPr/>
        </p:nvSpPr>
        <p:spPr>
          <a:xfrm>
            <a:off x="320040" y="82296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DeepONet (DON)</a:t>
            </a:r>
            <a:endParaRPr lang="en-US" sz="1050" dirty="0"/>
          </a:p>
        </p:txBody>
      </p:sp>
      <p:sp>
        <p:nvSpPr>
          <p:cNvPr id="10" name="Core 1"/>
          <p:cNvSpPr/>
          <p:nvPr/>
        </p:nvSpPr>
        <p:spPr>
          <a:xfrm>
            <a:off x="2679192" y="82296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product</a:t>
            </a:r>
            <a:endParaRPr lang="en-US" sz="1100" dirty="0"/>
          </a:p>
        </p:txBody>
      </p:sp>
      <p:sp>
        <p:nvSpPr>
          <p:cNvPr id="11" name="Value 1-1"/>
          <p:cNvSpPr/>
          <p:nvPr/>
        </p:nvSpPr>
        <p:spPr>
          <a:xfrm>
            <a:off x="4443984" y="8229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6.43</a:t>
            </a:r>
            <a:endParaRPr lang="en-US" sz="1150" dirty="0"/>
          </a:p>
        </p:txBody>
      </p:sp>
      <p:sp>
        <p:nvSpPr>
          <p:cNvPr id="12" name="Value 1-2"/>
          <p:cNvSpPr/>
          <p:nvPr/>
        </p:nvSpPr>
        <p:spPr>
          <a:xfrm>
            <a:off x="5500116" y="8229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0.589</a:t>
            </a:r>
            <a:endParaRPr lang="en-US" sz="1150" dirty="0"/>
          </a:p>
        </p:txBody>
      </p:sp>
      <p:sp>
        <p:nvSpPr>
          <p:cNvPr id="13" name="Value 1-3"/>
          <p:cNvSpPr/>
          <p:nvPr/>
        </p:nvSpPr>
        <p:spPr>
          <a:xfrm>
            <a:off x="6556248" y="8229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0.842</a:t>
            </a:r>
            <a:endParaRPr lang="en-US" sz="1150" dirty="0"/>
          </a:p>
        </p:txBody>
      </p:sp>
      <p:sp>
        <p:nvSpPr>
          <p:cNvPr id="14" name="Value 1-4"/>
          <p:cNvSpPr/>
          <p:nvPr/>
        </p:nvSpPr>
        <p:spPr>
          <a:xfrm>
            <a:off x="7612380" y="8229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12.92</a:t>
            </a:r>
            <a:endParaRPr lang="en-US" sz="1150" dirty="0"/>
          </a:p>
        </p:txBody>
      </p:sp>
      <p:sp>
        <p:nvSpPr>
          <p:cNvPr id="15" name="Architecture 2"/>
          <p:cNvSpPr/>
          <p:nvPr/>
        </p:nvSpPr>
        <p:spPr>
          <a:xfrm>
            <a:off x="320040" y="118872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Neural Operator (DNO)</a:t>
            </a:r>
            <a:endParaRPr lang="en-US" sz="1050" dirty="0"/>
          </a:p>
        </p:txBody>
      </p:sp>
      <p:sp>
        <p:nvSpPr>
          <p:cNvPr id="16" name="Core 2"/>
          <p:cNvSpPr/>
          <p:nvPr/>
        </p:nvSpPr>
        <p:spPr>
          <a:xfrm>
            <a:off x="2679192" y="118872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Modulation (FiLM)</a:t>
            </a:r>
            <a:endParaRPr lang="en-US" sz="1100" dirty="0"/>
          </a:p>
        </p:txBody>
      </p:sp>
      <p:sp>
        <p:nvSpPr>
          <p:cNvPr id="17" name="Value 2-1"/>
          <p:cNvSpPr/>
          <p:nvPr/>
        </p:nvSpPr>
        <p:spPr>
          <a:xfrm>
            <a:off x="4443984" y="11887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2.92</a:t>
            </a:r>
            <a:endParaRPr lang="en-US" sz="1150" dirty="0"/>
          </a:p>
        </p:txBody>
      </p:sp>
      <p:sp>
        <p:nvSpPr>
          <p:cNvPr id="18" name="Value 2-2"/>
          <p:cNvSpPr/>
          <p:nvPr/>
        </p:nvSpPr>
        <p:spPr>
          <a:xfrm>
            <a:off x="5500116" y="11887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0.915</a:t>
            </a:r>
            <a:endParaRPr lang="en-US" sz="1150" dirty="0"/>
          </a:p>
        </p:txBody>
      </p:sp>
      <p:sp>
        <p:nvSpPr>
          <p:cNvPr id="19" name="Value 2-3"/>
          <p:cNvSpPr/>
          <p:nvPr/>
        </p:nvSpPr>
        <p:spPr>
          <a:xfrm>
            <a:off x="6556248" y="11887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0.963</a:t>
            </a:r>
            <a:endParaRPr lang="en-US" sz="1150" dirty="0"/>
          </a:p>
        </p:txBody>
      </p:sp>
      <p:sp>
        <p:nvSpPr>
          <p:cNvPr id="20" name="Value 2-4"/>
          <p:cNvSpPr/>
          <p:nvPr/>
        </p:nvSpPr>
        <p:spPr>
          <a:xfrm>
            <a:off x="7612380" y="11887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6.78</a:t>
            </a:r>
            <a:endParaRPr lang="en-US" sz="1150" dirty="0"/>
          </a:p>
        </p:txBody>
      </p:sp>
      <p:sp>
        <p:nvSpPr>
          <p:cNvPr id="21" name="Architecture 3"/>
          <p:cNvSpPr/>
          <p:nvPr/>
        </p:nvSpPr>
        <p:spPr>
          <a:xfrm>
            <a:off x="320040" y="155448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Cat Operator (DCO)</a:t>
            </a:r>
            <a:endParaRPr lang="en-US" sz="1050" dirty="0"/>
          </a:p>
        </p:txBody>
      </p:sp>
      <p:sp>
        <p:nvSpPr>
          <p:cNvPr id="22" name="Core 3"/>
          <p:cNvSpPr/>
          <p:nvPr/>
        </p:nvSpPr>
        <p:spPr>
          <a:xfrm>
            <a:off x="2679192" y="155448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Concatenation</a:t>
            </a:r>
            <a:endParaRPr lang="en-US" sz="1100" dirty="0"/>
          </a:p>
        </p:txBody>
      </p:sp>
      <p:sp>
        <p:nvSpPr>
          <p:cNvPr id="23" name="Value 3-1"/>
          <p:cNvSpPr/>
          <p:nvPr/>
        </p:nvSpPr>
        <p:spPr>
          <a:xfrm>
            <a:off x="4443984" y="15544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E1F1DE"/>
          </a:solidFill>
          <a:ln w="15875">
            <a:solidFill>
              <a:srgbClr val="97C79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2.70</a:t>
            </a:r>
            <a:endParaRPr lang="en-US" sz="1150" dirty="0"/>
          </a:p>
        </p:txBody>
      </p:sp>
      <p:sp>
        <p:nvSpPr>
          <p:cNvPr id="24" name="Value 3-2"/>
          <p:cNvSpPr/>
          <p:nvPr/>
        </p:nvSpPr>
        <p:spPr>
          <a:xfrm>
            <a:off x="5500116" y="15544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E1F1DE"/>
          </a:solidFill>
          <a:ln w="15875">
            <a:solidFill>
              <a:srgbClr val="97C79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0.927</a:t>
            </a:r>
            <a:endParaRPr lang="en-US" sz="1150" dirty="0"/>
          </a:p>
        </p:txBody>
      </p:sp>
      <p:sp>
        <p:nvSpPr>
          <p:cNvPr id="25" name="Value 3-3"/>
          <p:cNvSpPr/>
          <p:nvPr/>
        </p:nvSpPr>
        <p:spPr>
          <a:xfrm>
            <a:off x="6556248" y="15544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E1F1DE"/>
          </a:solidFill>
          <a:ln w="15875">
            <a:solidFill>
              <a:srgbClr val="97C79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</a:t>
            </a:r>
            <a:endParaRPr lang="en-US" sz="1150" dirty="0"/>
          </a:p>
        </p:txBody>
      </p:sp>
      <p:sp>
        <p:nvSpPr>
          <p:cNvPr id="26" name="Value 3-4"/>
          <p:cNvSpPr/>
          <p:nvPr/>
        </p:nvSpPr>
        <p:spPr>
          <a:xfrm>
            <a:off x="7612380" y="15544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6.70</a:t>
            </a:r>
            <a:endParaRPr lang="en-US" sz="1150" dirty="0"/>
          </a:p>
        </p:txBody>
      </p:sp>
      <p:sp>
        <p:nvSpPr>
          <p:cNvPr id="27" name="Architecture 4"/>
          <p:cNvSpPr/>
          <p:nvPr/>
        </p:nvSpPr>
        <p:spPr>
          <a:xfrm>
            <a:off x="320040" y="192024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Fourier Neural Operator (FNO)</a:t>
            </a:r>
            <a:endParaRPr lang="en-US" sz="1050" dirty="0"/>
          </a:p>
        </p:txBody>
      </p:sp>
      <p:sp>
        <p:nvSpPr>
          <p:cNvPr id="28" name="Core 4"/>
          <p:cNvSpPr/>
          <p:nvPr/>
        </p:nvSpPr>
        <p:spPr>
          <a:xfrm>
            <a:off x="2679192" y="192024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Fourier transform</a:t>
            </a:r>
            <a:endParaRPr lang="en-US" sz="1100" dirty="0"/>
          </a:p>
        </p:txBody>
      </p:sp>
      <p:sp>
        <p:nvSpPr>
          <p:cNvPr id="29" name="Value 4-1"/>
          <p:cNvSpPr/>
          <p:nvPr/>
        </p:nvSpPr>
        <p:spPr>
          <a:xfrm>
            <a:off x="4443984" y="19202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3.45</a:t>
            </a:r>
            <a:endParaRPr lang="en-US" sz="1150" dirty="0"/>
          </a:p>
        </p:txBody>
      </p:sp>
      <p:sp>
        <p:nvSpPr>
          <p:cNvPr id="30" name="Value 4-2"/>
          <p:cNvSpPr/>
          <p:nvPr/>
        </p:nvSpPr>
        <p:spPr>
          <a:xfrm>
            <a:off x="5500116" y="19202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0.882</a:t>
            </a:r>
            <a:endParaRPr lang="en-US" sz="1150" dirty="0"/>
          </a:p>
        </p:txBody>
      </p:sp>
      <p:sp>
        <p:nvSpPr>
          <p:cNvPr id="31" name="Value 4-3"/>
          <p:cNvSpPr/>
          <p:nvPr/>
        </p:nvSpPr>
        <p:spPr>
          <a:xfrm>
            <a:off x="6556248" y="19202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0.945</a:t>
            </a:r>
            <a:endParaRPr lang="en-US" sz="1150" dirty="0"/>
          </a:p>
        </p:txBody>
      </p:sp>
      <p:sp>
        <p:nvSpPr>
          <p:cNvPr id="32" name="Value 4-4"/>
          <p:cNvSpPr/>
          <p:nvPr/>
        </p:nvSpPr>
        <p:spPr>
          <a:xfrm>
            <a:off x="7612380" y="19202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7.96</a:t>
            </a:r>
            <a:endParaRPr lang="en-US" sz="1150" dirty="0"/>
          </a:p>
        </p:txBody>
      </p:sp>
      <p:sp>
        <p:nvSpPr>
          <p:cNvPr id="33" name="Architecture 5"/>
          <p:cNvSpPr/>
          <p:nvPr/>
        </p:nvSpPr>
        <p:spPr>
          <a:xfrm>
            <a:off x="320040" y="228600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 Neural Operator (WNO)</a:t>
            </a:r>
            <a:endParaRPr lang="en-US" sz="1050" dirty="0"/>
          </a:p>
        </p:txBody>
      </p:sp>
      <p:sp>
        <p:nvSpPr>
          <p:cNvPr id="34" name="Core 5"/>
          <p:cNvSpPr/>
          <p:nvPr/>
        </p:nvSpPr>
        <p:spPr>
          <a:xfrm>
            <a:off x="2679192" y="228600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Wavelet transform</a:t>
            </a:r>
            <a:endParaRPr lang="en-US" sz="1100" dirty="0"/>
          </a:p>
        </p:txBody>
      </p:sp>
      <p:sp>
        <p:nvSpPr>
          <p:cNvPr id="35" name="Value 5-1"/>
          <p:cNvSpPr/>
          <p:nvPr/>
        </p:nvSpPr>
        <p:spPr>
          <a:xfrm>
            <a:off x="4443984" y="22860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3.46</a:t>
            </a:r>
            <a:endParaRPr lang="en-US" sz="1150" dirty="0"/>
          </a:p>
        </p:txBody>
      </p:sp>
      <p:sp>
        <p:nvSpPr>
          <p:cNvPr id="36" name="Value 5-2"/>
          <p:cNvSpPr/>
          <p:nvPr/>
        </p:nvSpPr>
        <p:spPr>
          <a:xfrm>
            <a:off x="5500116" y="22860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0.881</a:t>
            </a:r>
            <a:endParaRPr lang="en-US" sz="1150" dirty="0"/>
          </a:p>
        </p:txBody>
      </p:sp>
      <p:sp>
        <p:nvSpPr>
          <p:cNvPr id="37" name="Value 5-3"/>
          <p:cNvSpPr/>
          <p:nvPr/>
        </p:nvSpPr>
        <p:spPr>
          <a:xfrm>
            <a:off x="6556248" y="22860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0.943</a:t>
            </a:r>
            <a:endParaRPr lang="en-US" sz="1150" dirty="0"/>
          </a:p>
        </p:txBody>
      </p:sp>
      <p:sp>
        <p:nvSpPr>
          <p:cNvPr id="38" name="Value 5-4"/>
          <p:cNvSpPr/>
          <p:nvPr/>
        </p:nvSpPr>
        <p:spPr>
          <a:xfrm>
            <a:off x="7612380" y="22860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9.05</a:t>
            </a:r>
            <a:endParaRPr lang="en-US" sz="1150" dirty="0"/>
          </a:p>
        </p:txBody>
      </p:sp>
      <p:sp>
        <p:nvSpPr>
          <p:cNvPr id="39" name="Architecture 6"/>
          <p:cNvSpPr/>
          <p:nvPr/>
        </p:nvSpPr>
        <p:spPr>
          <a:xfrm>
            <a:off x="320040" y="265176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Laplace Neural Operator (LNO)</a:t>
            </a:r>
            <a:endParaRPr lang="en-US" sz="1050" dirty="0"/>
          </a:p>
        </p:txBody>
      </p:sp>
      <p:sp>
        <p:nvSpPr>
          <p:cNvPr id="40" name="Core 6"/>
          <p:cNvSpPr/>
          <p:nvPr/>
        </p:nvSpPr>
        <p:spPr>
          <a:xfrm>
            <a:off x="2679192" y="265176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EBE2F5"/>
          </a:solidFill>
          <a:ln w="15875">
            <a:solidFill>
              <a:srgbClr val="B39AD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Poles and residues</a:t>
            </a:r>
            <a:endParaRPr lang="en-US" sz="1100" dirty="0"/>
          </a:p>
        </p:txBody>
      </p:sp>
      <p:sp>
        <p:nvSpPr>
          <p:cNvPr id="41" name="Value 6-1"/>
          <p:cNvSpPr/>
          <p:nvPr/>
        </p:nvSpPr>
        <p:spPr>
          <a:xfrm>
            <a:off x="4443984" y="26517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3.18</a:t>
            </a:r>
            <a:endParaRPr lang="en-US" sz="1150" dirty="0"/>
          </a:p>
        </p:txBody>
      </p:sp>
      <p:sp>
        <p:nvSpPr>
          <p:cNvPr id="42" name="Value 6-2"/>
          <p:cNvSpPr/>
          <p:nvPr/>
        </p:nvSpPr>
        <p:spPr>
          <a:xfrm>
            <a:off x="5500116" y="26517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0.899</a:t>
            </a:r>
            <a:endParaRPr lang="en-US" sz="1150" dirty="0"/>
          </a:p>
        </p:txBody>
      </p:sp>
      <p:sp>
        <p:nvSpPr>
          <p:cNvPr id="43" name="Value 6-3"/>
          <p:cNvSpPr/>
          <p:nvPr/>
        </p:nvSpPr>
        <p:spPr>
          <a:xfrm>
            <a:off x="6556248" y="26517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1150" dirty="0"/>
          </a:p>
        </p:txBody>
      </p:sp>
      <p:sp>
        <p:nvSpPr>
          <p:cNvPr id="44" name="Value 6-4"/>
          <p:cNvSpPr/>
          <p:nvPr/>
        </p:nvSpPr>
        <p:spPr>
          <a:xfrm>
            <a:off x="7612380" y="265176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7.15</a:t>
            </a:r>
            <a:endParaRPr lang="en-US" sz="1150" dirty="0"/>
          </a:p>
        </p:txBody>
      </p:sp>
      <p:sp>
        <p:nvSpPr>
          <p:cNvPr id="45" name="Architecture 7"/>
          <p:cNvSpPr/>
          <p:nvPr/>
        </p:nvSpPr>
        <p:spPr>
          <a:xfrm>
            <a:off x="320040" y="301752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Neural Operator (GNO)</a:t>
            </a:r>
            <a:endParaRPr lang="en-US" sz="1050" dirty="0"/>
          </a:p>
        </p:txBody>
      </p:sp>
      <p:sp>
        <p:nvSpPr>
          <p:cNvPr id="46" name="Core 7"/>
          <p:cNvSpPr/>
          <p:nvPr/>
        </p:nvSpPr>
        <p:spPr>
          <a:xfrm>
            <a:off x="2679192" y="301752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network</a:t>
            </a:r>
            <a:endParaRPr lang="en-US" sz="1100" dirty="0"/>
          </a:p>
        </p:txBody>
      </p:sp>
      <p:sp>
        <p:nvSpPr>
          <p:cNvPr id="47" name="Value 7-1"/>
          <p:cNvSpPr/>
          <p:nvPr/>
        </p:nvSpPr>
        <p:spPr>
          <a:xfrm>
            <a:off x="4443984" y="30175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3.84</a:t>
            </a:r>
            <a:endParaRPr lang="en-US" sz="1150" dirty="0"/>
          </a:p>
        </p:txBody>
      </p:sp>
      <p:sp>
        <p:nvSpPr>
          <p:cNvPr id="48" name="Value 7-2"/>
          <p:cNvSpPr/>
          <p:nvPr/>
        </p:nvSpPr>
        <p:spPr>
          <a:xfrm>
            <a:off x="5500116" y="30175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0.853</a:t>
            </a:r>
            <a:endParaRPr lang="en-US" sz="1150" dirty="0"/>
          </a:p>
        </p:txBody>
      </p:sp>
      <p:sp>
        <p:nvSpPr>
          <p:cNvPr id="49" name="Value 7-3"/>
          <p:cNvSpPr/>
          <p:nvPr/>
        </p:nvSpPr>
        <p:spPr>
          <a:xfrm>
            <a:off x="6556248" y="30175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0.949</a:t>
            </a:r>
            <a:endParaRPr lang="en-US" sz="1150" dirty="0"/>
          </a:p>
        </p:txBody>
      </p:sp>
      <p:sp>
        <p:nvSpPr>
          <p:cNvPr id="50" name="Value 7-4"/>
          <p:cNvSpPr/>
          <p:nvPr/>
        </p:nvSpPr>
        <p:spPr>
          <a:xfrm>
            <a:off x="7612380" y="301752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E1F1DE"/>
          </a:solidFill>
          <a:ln w="15875">
            <a:solidFill>
              <a:srgbClr val="97C791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6.57</a:t>
            </a:r>
            <a:endParaRPr lang="en-US" sz="1150" dirty="0"/>
          </a:p>
        </p:txBody>
      </p:sp>
      <p:sp>
        <p:nvSpPr>
          <p:cNvPr id="51" name="Architecture 8"/>
          <p:cNvSpPr/>
          <p:nvPr/>
        </p:nvSpPr>
        <p:spPr>
          <a:xfrm>
            <a:off x="320040" y="338328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Transformer Operator (STO)</a:t>
            </a:r>
            <a:endParaRPr lang="en-US" sz="1050" dirty="0"/>
          </a:p>
        </p:txBody>
      </p:sp>
      <p:sp>
        <p:nvSpPr>
          <p:cNvPr id="52" name="Core 8"/>
          <p:cNvSpPr/>
          <p:nvPr/>
        </p:nvSpPr>
        <p:spPr>
          <a:xfrm>
            <a:off x="2679192" y="338328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FDE7D3"/>
          </a:solidFill>
          <a:ln w="15875">
            <a:solidFill>
              <a:srgbClr val="EBA46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53" name="Value 8-1"/>
          <p:cNvSpPr/>
          <p:nvPr/>
        </p:nvSpPr>
        <p:spPr>
          <a:xfrm>
            <a:off x="4443984" y="33832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3.86</a:t>
            </a:r>
            <a:endParaRPr lang="en-US" sz="1150" dirty="0"/>
          </a:p>
        </p:txBody>
      </p:sp>
      <p:sp>
        <p:nvSpPr>
          <p:cNvPr id="54" name="Value 8-2"/>
          <p:cNvSpPr/>
          <p:nvPr/>
        </p:nvSpPr>
        <p:spPr>
          <a:xfrm>
            <a:off x="5500116" y="33832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0.852</a:t>
            </a:r>
            <a:endParaRPr lang="en-US" sz="1150" dirty="0"/>
          </a:p>
        </p:txBody>
      </p:sp>
      <p:sp>
        <p:nvSpPr>
          <p:cNvPr id="55" name="Value 8-3"/>
          <p:cNvSpPr/>
          <p:nvPr/>
        </p:nvSpPr>
        <p:spPr>
          <a:xfrm>
            <a:off x="6556248" y="33832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0.947</a:t>
            </a:r>
            <a:endParaRPr lang="en-US" sz="1150" dirty="0"/>
          </a:p>
        </p:txBody>
      </p:sp>
      <p:sp>
        <p:nvSpPr>
          <p:cNvPr id="56" name="Value 8-4"/>
          <p:cNvSpPr/>
          <p:nvPr/>
        </p:nvSpPr>
        <p:spPr>
          <a:xfrm>
            <a:off x="7612380" y="338328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7.03</a:t>
            </a:r>
            <a:endParaRPr lang="en-US" sz="1150" dirty="0"/>
          </a:p>
        </p:txBody>
      </p:sp>
      <p:sp>
        <p:nvSpPr>
          <p:cNvPr id="57" name="Architecture 9"/>
          <p:cNvSpPr/>
          <p:nvPr/>
        </p:nvSpPr>
        <p:spPr>
          <a:xfrm>
            <a:off x="320040" y="374904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FDF3C9"/>
          </a:solidFill>
          <a:ln w="15875">
            <a:solidFill>
              <a:srgbClr val="E0C25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SIREN Neural Operator (SIREN)</a:t>
            </a:r>
            <a:endParaRPr lang="en-US" sz="1050" dirty="0"/>
          </a:p>
        </p:txBody>
      </p:sp>
      <p:sp>
        <p:nvSpPr>
          <p:cNvPr id="58" name="Core 9"/>
          <p:cNvSpPr/>
          <p:nvPr/>
        </p:nvSpPr>
        <p:spPr>
          <a:xfrm>
            <a:off x="2679192" y="374904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FDF3C9"/>
          </a:solidFill>
          <a:ln w="15875">
            <a:solidFill>
              <a:srgbClr val="E0C25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 layers</a:t>
            </a:r>
            <a:endParaRPr lang="en-US" sz="1100" dirty="0"/>
          </a:p>
        </p:txBody>
      </p:sp>
      <p:sp>
        <p:nvSpPr>
          <p:cNvPr id="59" name="Value 9-1"/>
          <p:cNvSpPr/>
          <p:nvPr/>
        </p:nvSpPr>
        <p:spPr>
          <a:xfrm>
            <a:off x="4443984" y="37490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</a:t>
            </a:r>
            <a:endParaRPr lang="en-US" sz="1150" dirty="0"/>
          </a:p>
        </p:txBody>
      </p:sp>
      <p:sp>
        <p:nvSpPr>
          <p:cNvPr id="60" name="Value 9-2"/>
          <p:cNvSpPr/>
          <p:nvPr/>
        </p:nvSpPr>
        <p:spPr>
          <a:xfrm>
            <a:off x="5500116" y="37490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0.903</a:t>
            </a:r>
            <a:endParaRPr lang="en-US" sz="1150" dirty="0"/>
          </a:p>
        </p:txBody>
      </p:sp>
      <p:sp>
        <p:nvSpPr>
          <p:cNvPr id="61" name="Value 9-3"/>
          <p:cNvSpPr/>
          <p:nvPr/>
        </p:nvSpPr>
        <p:spPr>
          <a:xfrm>
            <a:off x="6556248" y="37490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</a:t>
            </a:r>
            <a:endParaRPr lang="en-US" sz="1150" dirty="0"/>
          </a:p>
        </p:txBody>
      </p:sp>
      <p:sp>
        <p:nvSpPr>
          <p:cNvPr id="62" name="Value 9-4"/>
          <p:cNvSpPr/>
          <p:nvPr/>
        </p:nvSpPr>
        <p:spPr>
          <a:xfrm>
            <a:off x="7612380" y="374904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5875">
            <a:solidFill>
              <a:srgbClr val="C3CCD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6.96</a:t>
            </a:r>
            <a:endParaRPr lang="en-US" sz="1150" dirty="0"/>
          </a:p>
        </p:txBody>
      </p:sp>
      <p:sp>
        <p:nvSpPr>
          <p:cNvPr id="63" name="Architecture 10"/>
          <p:cNvSpPr/>
          <p:nvPr/>
        </p:nvSpPr>
        <p:spPr>
          <a:xfrm>
            <a:off x="320040" y="4114800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Neural Network (NN)</a:t>
            </a:r>
            <a:endParaRPr lang="en-US" sz="1050" dirty="0"/>
          </a:p>
        </p:txBody>
      </p:sp>
      <p:sp>
        <p:nvSpPr>
          <p:cNvPr id="64" name="Core 10"/>
          <p:cNvSpPr/>
          <p:nvPr/>
        </p:nvSpPr>
        <p:spPr>
          <a:xfrm>
            <a:off x="2679192" y="4114800"/>
            <a:ext cx="1691640" cy="310896"/>
          </a:xfrm>
          <a:prstGeom prst="roundRect">
            <a:avLst>
              <a:gd name="adj" fmla="val 20588"/>
            </a:avLst>
          </a:prstGeom>
          <a:solidFill>
            <a:srgbClr val="DBE8F6"/>
          </a:solidFill>
          <a:ln w="15875">
            <a:solidFill>
              <a:srgbClr val="8FB4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layers</a:t>
            </a:r>
            <a:endParaRPr lang="en-US" sz="1100" dirty="0"/>
          </a:p>
        </p:txBody>
      </p:sp>
      <p:sp>
        <p:nvSpPr>
          <p:cNvPr id="65" name="Value 10-1"/>
          <p:cNvSpPr/>
          <p:nvPr/>
        </p:nvSpPr>
        <p:spPr>
          <a:xfrm>
            <a:off x="4443984" y="41148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8.53</a:t>
            </a:r>
            <a:endParaRPr lang="en-US" sz="1150" dirty="0"/>
          </a:p>
        </p:txBody>
      </p:sp>
      <p:sp>
        <p:nvSpPr>
          <p:cNvPr id="66" name="Value 10-2"/>
          <p:cNvSpPr/>
          <p:nvPr/>
        </p:nvSpPr>
        <p:spPr>
          <a:xfrm>
            <a:off x="5500116" y="41148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0.275</a:t>
            </a:r>
            <a:endParaRPr lang="en-US" sz="1150" dirty="0"/>
          </a:p>
        </p:txBody>
      </p:sp>
      <p:sp>
        <p:nvSpPr>
          <p:cNvPr id="67" name="Value 10-3"/>
          <p:cNvSpPr/>
          <p:nvPr/>
        </p:nvSpPr>
        <p:spPr>
          <a:xfrm>
            <a:off x="6556248" y="41148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0.764</a:t>
            </a:r>
            <a:endParaRPr lang="en-US" sz="1150" dirty="0"/>
          </a:p>
        </p:txBody>
      </p:sp>
      <p:sp>
        <p:nvSpPr>
          <p:cNvPr id="68" name="Value 10-4"/>
          <p:cNvSpPr/>
          <p:nvPr/>
        </p:nvSpPr>
        <p:spPr>
          <a:xfrm>
            <a:off x="7612380" y="4114800"/>
            <a:ext cx="978408" cy="310896"/>
          </a:xfrm>
          <a:prstGeom prst="roundRect">
            <a:avLst>
              <a:gd name="adj" fmla="val 20588"/>
            </a:avLst>
          </a:prstGeom>
          <a:solidFill>
            <a:srgbClr val="F8C4C4"/>
          </a:solidFill>
          <a:ln w="15875">
            <a:solidFill>
              <a:srgbClr val="D96B6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15.66</a:t>
            </a:r>
            <a:endParaRPr lang="en-US" sz="1150" dirty="0"/>
          </a:p>
        </p:txBody>
      </p:sp>
      <p:sp>
        <p:nvSpPr>
          <p:cNvPr id="69" name="Footnote"/>
          <p:cNvSpPr txBox="1"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200-epoch models, 100k dataset (10,000 test spectra). Correlation: Pearson r over all points. Peak RMSE: error at the resonance peaks of the true ERP.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value of each column in green; red: worse than halfway between the best and the worst value of the column.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operators: core operation and test error</dc:title>
  <dc:subject>PptxGenJS Presentation</dc:subject>
  <dc:creator>PptxGenJS</dc:creator>
  <cp:lastModifiedBy>PptxGenJS</cp:lastModifiedBy>
  <cp:revision>1</cp:revision>
  <dcterms:created xsi:type="dcterms:W3CDTF">2026-10-06T07:03:24Z</dcterms:created>
  <dcterms:modified xsi:type="dcterms:W3CDTF">2026-10-06T07:03:24Z</dcterms:modified>
</cp:coreProperties>
</file>