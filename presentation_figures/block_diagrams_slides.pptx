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7007" y="1074248"/>
            <a:ext cx="1854238" cy="607423"/>
          </a:xfrm>
          <a:prstGeom prst="roundRect">
            <a:avLst>
              <a:gd name="adj" fmla="val 12043"/>
            </a:avLst>
          </a:prstGeom>
          <a:solidFill>
            <a:srgbClr val="D9E8F7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Resonator encoder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+ </a:t>
            </a:r>
            <a:pPr algn="ctr" indent="0" marL="0">
              <a:buNone/>
            </a:pPr>
            <a:r>
              <a:rPr lang="en-US" sz="70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-sorted encoders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(GNO: graph nodes, STO: tokens)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07007" y="1969398"/>
            <a:ext cx="1854238" cy="607423"/>
          </a:xfrm>
          <a:prstGeom prst="roundRect">
            <a:avLst>
              <a:gd name="adj" fmla="val 12043"/>
            </a:avLst>
          </a:prstGeom>
          <a:solidFill>
            <a:srgbClr val="E1F1DE"/>
          </a:solidFill>
          <a:ln w="15875">
            <a:solidFill>
              <a:srgbClr val="97C79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Resonance query</a:t>
            </a:r>
            <a:endParaRPr lang="en-US" sz="12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pPr algn="ctr" indent="0" marL="0">
              <a:buNone/>
            </a:pPr>
            <a:r>
              <a:rPr lang="en-US" sz="70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pPr algn="ctr" indent="0" marL="0">
              <a:buNone/>
            </a:pPr>
            <a:r>
              <a:rPr lang="en-US" sz="70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700" i="1" baseline="-400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</a:t>
            </a:r>
            <a:pPr algn="ctr" indent="0" marL="0">
              <a:buNone/>
            </a:pPr>
            <a:r>
              <a:rPr lang="en-US" sz="70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pPr algn="ctr" indent="0" marL="0">
              <a:buNone/>
            </a:pPr>
            <a:r>
              <a:rPr lang="en-US" sz="70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pPr algn="ctr" indent="0" marL="0">
              <a:buNone/>
            </a:pPr>
            <a:r>
              <a:rPr lang="en-US" sz="700" baseline="300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per resonator,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 over the resonators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07007" y="2864547"/>
            <a:ext cx="1854238" cy="607423"/>
          </a:xfrm>
          <a:prstGeom prst="roundRect">
            <a:avLst>
              <a:gd name="adj" fmla="val 12043"/>
            </a:avLst>
          </a:prstGeom>
          <a:solidFill>
            <a:srgbClr val="D6EEF0"/>
          </a:solidFill>
          <a:ln w="15875">
            <a:solidFill>
              <a:srgbClr val="86C3C8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encoder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embedding of </a:t>
            </a:r>
            <a:pPr algn="ctr" indent="0" marL="0">
              <a:buNone/>
            </a:pPr>
            <a:r>
              <a:rPr lang="en-US" sz="70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(or the frequency itself)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76091" y="1489853"/>
            <a:ext cx="1598481" cy="1534542"/>
          </a:xfrm>
          <a:prstGeom prst="roundRect">
            <a:avLst>
              <a:gd name="adj" fmla="val 4767"/>
            </a:avLst>
          </a:prstGeom>
          <a:solidFill>
            <a:srgbClr val="FDE7D3"/>
          </a:solidFill>
          <a:ln w="28575">
            <a:solidFill>
              <a:srgbClr val="E8632B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architecture</a:t>
            </a: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architecture-specific:</a:t>
            </a: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DON, DNO, FNO, DCO, GNO,</a:t>
            </a: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STO, SIREN, WNO, LNO</a:t>
            </a:r>
            <a:endParaRPr lang="en-US" sz="13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(NN: plain MLP)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22147" y="1713641"/>
            <a:ext cx="1342724" cy="1086967"/>
          </a:xfrm>
          <a:prstGeom prst="roundRect">
            <a:avLst>
              <a:gd name="adj" fmla="val 6730"/>
            </a:avLst>
          </a:prstGeom>
          <a:solidFill>
            <a:srgbClr val="EBE2F5"/>
          </a:solidFill>
          <a:ln w="15875">
            <a:solidFill>
              <a:srgbClr val="B39AD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refinement along </a:t>
            </a:r>
            <a:pPr algn="ctr" indent="0" marL="0">
              <a:buNone/>
            </a:pPr>
            <a:r>
              <a:rPr lang="en-US" sz="70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head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16243" y="1304429"/>
            <a:ext cx="1918177" cy="191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block that changes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71191" y="1122203"/>
            <a:ext cx="677756" cy="511514"/>
          </a:xfrm>
          <a:prstGeom prst="roundRect">
            <a:avLst>
              <a:gd name="adj" fmla="val 14301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967" y="1281176"/>
            <a:ext cx="542205" cy="193567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025" y="1387868"/>
            <a:ext cx="57609" cy="576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2953" y="1298827"/>
            <a:ext cx="57609" cy="576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770" y="1360769"/>
            <a:ext cx="57609" cy="576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2495" y="1710444"/>
            <a:ext cx="895149" cy="511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Resonators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900" i="1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71191" y="2912502"/>
            <a:ext cx="831210" cy="511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950" dirty="0"/>
          </a:p>
          <a:p>
            <a:pPr algn="l"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301 points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25675" y="1377960"/>
            <a:ext cx="281333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25675" y="3168258"/>
            <a:ext cx="281333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253553" y="1377960"/>
            <a:ext cx="0" cy="780059"/>
          </a:xfrm>
          <a:prstGeom prst="line">
            <a:avLst/>
          </a:prstGeom>
          <a:noFill/>
          <a:ln w="13970">
            <a:solidFill>
              <a:srgbClr val="3D6A9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3553" y="2158018"/>
            <a:ext cx="153454" cy="0"/>
          </a:xfrm>
          <a:prstGeom prst="line">
            <a:avLst/>
          </a:prstGeom>
          <a:noFill/>
          <a:ln w="1397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1253553" y="2388200"/>
            <a:ext cx="0" cy="780059"/>
          </a:xfrm>
          <a:prstGeom prst="line">
            <a:avLst/>
          </a:prstGeom>
          <a:noFill/>
          <a:ln w="13970">
            <a:solidFill>
              <a:srgbClr val="3D6A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3553" y="2388200"/>
            <a:ext cx="153454" cy="0"/>
          </a:xfrm>
          <a:prstGeom prst="line">
            <a:avLst/>
          </a:prstGeom>
          <a:noFill/>
          <a:ln w="1397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218386" y="1342793"/>
            <a:ext cx="70333" cy="70333"/>
          </a:xfrm>
          <a:prstGeom prst="ellipse">
            <a:avLst/>
          </a:prstGeom>
          <a:solidFill>
            <a:srgbClr val="3D6A94"/>
          </a:solidFill>
          <a:ln w="6350">
            <a:solidFill>
              <a:srgbClr val="3D6A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18386" y="3133092"/>
            <a:ext cx="70333" cy="70333"/>
          </a:xfrm>
          <a:prstGeom prst="ellipse">
            <a:avLst/>
          </a:prstGeom>
          <a:solidFill>
            <a:srgbClr val="3D6A94"/>
          </a:solidFill>
          <a:ln w="6350">
            <a:solidFill>
              <a:srgbClr val="3D6A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1245" y="1377960"/>
            <a:ext cx="1214846" cy="591438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3261245" y="2257124"/>
            <a:ext cx="1214846" cy="15985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3261245" y="2544851"/>
            <a:ext cx="1214846" cy="623408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74572" y="2257124"/>
            <a:ext cx="447575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864871" y="2257124"/>
            <a:ext cx="191818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095053" y="1969398"/>
            <a:ext cx="677756" cy="575453"/>
          </a:xfrm>
          <a:prstGeom prst="roundRect">
            <a:avLst>
              <a:gd name="adj" fmla="val 12712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176383" y="2026943"/>
            <a:ext cx="0" cy="437344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6383" y="2464287"/>
            <a:ext cx="54220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9938" y="2061470"/>
            <a:ext cx="515095" cy="379799"/>
          </a:xfrm>
          <a:custGeom>
            <a:avLst/>
            <a:gdLst/>
            <a:ahLst/>
            <a:cxnLst/>
            <a:rect l="l" t="t" r="r" b="b"/>
            <a:pathLst>
              <a:path w="515095" h="379799">
                <a:moveTo>
                  <a:pt x="0" y="379799"/>
                </a:moveTo>
                <a:lnTo>
                  <a:pt x="5788" y="373343"/>
                </a:lnTo>
                <a:lnTo>
                  <a:pt x="11575" y="367646"/>
                </a:lnTo>
                <a:lnTo>
                  <a:pt x="17363" y="360429"/>
                </a:lnTo>
                <a:lnTo>
                  <a:pt x="23150" y="355492"/>
                </a:lnTo>
                <a:lnTo>
                  <a:pt x="28938" y="350934"/>
                </a:lnTo>
                <a:lnTo>
                  <a:pt x="34725" y="345237"/>
                </a:lnTo>
                <a:lnTo>
                  <a:pt x="40513" y="341060"/>
                </a:lnTo>
                <a:lnTo>
                  <a:pt x="46301" y="336882"/>
                </a:lnTo>
                <a:lnTo>
                  <a:pt x="52088" y="331185"/>
                </a:lnTo>
                <a:lnTo>
                  <a:pt x="57876" y="327007"/>
                </a:lnTo>
                <a:lnTo>
                  <a:pt x="63663" y="321690"/>
                </a:lnTo>
                <a:lnTo>
                  <a:pt x="69451" y="317132"/>
                </a:lnTo>
                <a:lnTo>
                  <a:pt x="75239" y="312575"/>
                </a:lnTo>
                <a:lnTo>
                  <a:pt x="81026" y="306118"/>
                </a:lnTo>
                <a:lnTo>
                  <a:pt x="86814" y="300421"/>
                </a:lnTo>
                <a:lnTo>
                  <a:pt x="92601" y="294344"/>
                </a:lnTo>
                <a:lnTo>
                  <a:pt x="98389" y="284470"/>
                </a:lnTo>
                <a:lnTo>
                  <a:pt x="104176" y="274975"/>
                </a:lnTo>
                <a:lnTo>
                  <a:pt x="109964" y="254845"/>
                </a:lnTo>
                <a:lnTo>
                  <a:pt x="115752" y="219904"/>
                </a:lnTo>
                <a:lnTo>
                  <a:pt x="121539" y="208890"/>
                </a:lnTo>
                <a:lnTo>
                  <a:pt x="127327" y="291686"/>
                </a:lnTo>
                <a:lnTo>
                  <a:pt x="133114" y="302700"/>
                </a:lnTo>
                <a:lnTo>
                  <a:pt x="138902" y="282950"/>
                </a:lnTo>
                <a:lnTo>
                  <a:pt x="144689" y="251807"/>
                </a:lnTo>
                <a:lnTo>
                  <a:pt x="150477" y="217625"/>
                </a:lnTo>
                <a:lnTo>
                  <a:pt x="156265" y="170150"/>
                </a:lnTo>
                <a:lnTo>
                  <a:pt x="162052" y="224841"/>
                </a:lnTo>
                <a:lnTo>
                  <a:pt x="167840" y="245730"/>
                </a:lnTo>
                <a:lnTo>
                  <a:pt x="173627" y="260162"/>
                </a:lnTo>
                <a:lnTo>
                  <a:pt x="179415" y="265480"/>
                </a:lnTo>
                <a:lnTo>
                  <a:pt x="185203" y="266999"/>
                </a:lnTo>
                <a:lnTo>
                  <a:pt x="190990" y="263201"/>
                </a:lnTo>
                <a:lnTo>
                  <a:pt x="196778" y="256744"/>
                </a:lnTo>
                <a:lnTo>
                  <a:pt x="202565" y="246110"/>
                </a:lnTo>
                <a:lnTo>
                  <a:pt x="208353" y="223322"/>
                </a:lnTo>
                <a:lnTo>
                  <a:pt x="214140" y="190659"/>
                </a:lnTo>
                <a:lnTo>
                  <a:pt x="219928" y="160275"/>
                </a:lnTo>
                <a:lnTo>
                  <a:pt x="225716" y="209649"/>
                </a:lnTo>
                <a:lnTo>
                  <a:pt x="231503" y="230918"/>
                </a:lnTo>
                <a:lnTo>
                  <a:pt x="237291" y="248009"/>
                </a:lnTo>
                <a:lnTo>
                  <a:pt x="243078" y="257124"/>
                </a:lnTo>
                <a:lnTo>
                  <a:pt x="248866" y="264340"/>
                </a:lnTo>
                <a:lnTo>
                  <a:pt x="254654" y="271556"/>
                </a:lnTo>
                <a:lnTo>
                  <a:pt x="260441" y="276494"/>
                </a:lnTo>
                <a:lnTo>
                  <a:pt x="266229" y="281431"/>
                </a:lnTo>
                <a:lnTo>
                  <a:pt x="272016" y="284849"/>
                </a:lnTo>
                <a:lnTo>
                  <a:pt x="277804" y="287888"/>
                </a:lnTo>
                <a:lnTo>
                  <a:pt x="283591" y="290926"/>
                </a:lnTo>
                <a:lnTo>
                  <a:pt x="289379" y="293205"/>
                </a:lnTo>
                <a:lnTo>
                  <a:pt x="295167" y="294724"/>
                </a:lnTo>
                <a:lnTo>
                  <a:pt x="300954" y="296243"/>
                </a:lnTo>
                <a:lnTo>
                  <a:pt x="306742" y="295864"/>
                </a:lnTo>
                <a:lnTo>
                  <a:pt x="312529" y="229399"/>
                </a:lnTo>
                <a:lnTo>
                  <a:pt x="318317" y="303080"/>
                </a:lnTo>
                <a:lnTo>
                  <a:pt x="324104" y="303839"/>
                </a:lnTo>
                <a:lnTo>
                  <a:pt x="329892" y="303460"/>
                </a:lnTo>
                <a:lnTo>
                  <a:pt x="335680" y="302700"/>
                </a:lnTo>
                <a:lnTo>
                  <a:pt x="341467" y="301181"/>
                </a:lnTo>
                <a:lnTo>
                  <a:pt x="347255" y="296243"/>
                </a:lnTo>
                <a:lnTo>
                  <a:pt x="353042" y="289407"/>
                </a:lnTo>
                <a:lnTo>
                  <a:pt x="358830" y="276874"/>
                </a:lnTo>
                <a:lnTo>
                  <a:pt x="364618" y="235096"/>
                </a:lnTo>
                <a:lnTo>
                  <a:pt x="370405" y="197875"/>
                </a:lnTo>
                <a:lnTo>
                  <a:pt x="376193" y="262441"/>
                </a:lnTo>
                <a:lnTo>
                  <a:pt x="381980" y="276874"/>
                </a:lnTo>
                <a:lnTo>
                  <a:pt x="387768" y="284090"/>
                </a:lnTo>
                <a:lnTo>
                  <a:pt x="393555" y="288268"/>
                </a:lnTo>
                <a:lnTo>
                  <a:pt x="399343" y="289027"/>
                </a:lnTo>
                <a:lnTo>
                  <a:pt x="405131" y="288647"/>
                </a:lnTo>
                <a:lnTo>
                  <a:pt x="410918" y="286748"/>
                </a:lnTo>
                <a:lnTo>
                  <a:pt x="416706" y="284470"/>
                </a:lnTo>
                <a:lnTo>
                  <a:pt x="422493" y="280292"/>
                </a:lnTo>
                <a:lnTo>
                  <a:pt x="428281" y="276114"/>
                </a:lnTo>
                <a:lnTo>
                  <a:pt x="434068" y="271556"/>
                </a:lnTo>
                <a:lnTo>
                  <a:pt x="439856" y="263581"/>
                </a:lnTo>
                <a:lnTo>
                  <a:pt x="445644" y="255985"/>
                </a:lnTo>
                <a:lnTo>
                  <a:pt x="451431" y="246490"/>
                </a:lnTo>
                <a:lnTo>
                  <a:pt x="457219" y="229399"/>
                </a:lnTo>
                <a:lnTo>
                  <a:pt x="463006" y="209269"/>
                </a:lnTo>
                <a:lnTo>
                  <a:pt x="468794" y="140526"/>
                </a:lnTo>
                <a:lnTo>
                  <a:pt x="474582" y="169390"/>
                </a:lnTo>
                <a:lnTo>
                  <a:pt x="480369" y="208510"/>
                </a:lnTo>
                <a:lnTo>
                  <a:pt x="486157" y="233197"/>
                </a:lnTo>
                <a:lnTo>
                  <a:pt x="491944" y="244970"/>
                </a:lnTo>
                <a:lnTo>
                  <a:pt x="497732" y="254086"/>
                </a:lnTo>
                <a:lnTo>
                  <a:pt x="503519" y="263201"/>
                </a:lnTo>
                <a:lnTo>
                  <a:pt x="509307" y="268898"/>
                </a:lnTo>
                <a:lnTo>
                  <a:pt x="515095" y="275354"/>
                </a:lnTo>
              </a:path>
            </a:pathLst>
          </a:custGeom>
          <a:ln w="254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86356" y="1668883"/>
            <a:ext cx="895149" cy="25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</a:t>
            </a:r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ŷ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encoder: MLP embedding in DON (trunk), DNO, DCO, GNO and STO; the raw frequency enters FNO, WNO, LNO, SIREN and NN.  Resonance query: inside the core for GNO and STO, absent in DON and NN.  Decoder: local refinement is part of the core blocks in FNO and WNO and absent in NN.  Each resonator also carries 120 plate-mode features; ERP values are normalised.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91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architecture of each forward operator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D9E8F7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DeepONet (DON)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977640" y="74066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4572000" y="56692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D9E8F7"/>
          </a:solidFill>
          <a:ln w="15875">
            <a:solidFill>
              <a:srgbClr val="8FB4D9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product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coefficients · trunk basis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97840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D9E8F7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Neural Operator (DNO)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115214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572000" y="97840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D9E8F7"/>
          </a:solidFill>
          <a:ln w="15875">
            <a:solidFill>
              <a:srgbClr val="8FB4D9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Modulation (FiLM)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and shift of residual blocks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D9E8F7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Cat Operator (DCO)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156362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572000" y="138988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D9E8F7"/>
          </a:solidFill>
          <a:ln w="15875">
            <a:solidFill>
              <a:srgbClr val="8FB4D9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branch, trunk, query → residual MLP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0136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Fourier Neural Operator (FNO)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197510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2000" y="180136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Fourier transform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convolution along 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21284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Wavelet Neural Operator (WNO)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238658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0" y="221284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Wavelet transform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3-level Haar wavelet blocks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62432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Laplace Neural Operator (LNO)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77640" y="279806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572000" y="262432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Poles and residues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Laplace-domain rational basis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03580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FDE7D3"/>
          </a:solidFill>
          <a:ln w="15875">
            <a:solidFill>
              <a:srgbClr val="EBA46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Neural Operator (GNO)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77640" y="320954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572000" y="303580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FDE7D3"/>
          </a:solidFill>
          <a:ln w="15875">
            <a:solidFill>
              <a:srgbClr val="EBA46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network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passing, attention over resonators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344728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FDE7D3"/>
          </a:solidFill>
          <a:ln w="15875">
            <a:solidFill>
              <a:srgbClr val="EBA46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Transformer Operator (STO)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77640" y="362102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572000" y="344728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FDE7D3"/>
          </a:solidFill>
          <a:ln w="15875">
            <a:solidFill>
              <a:srgbClr val="EBA46F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frequencies attend to resonator tokens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85876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FDF3C9"/>
          </a:solidFill>
          <a:ln w="15875">
            <a:solidFill>
              <a:srgbClr val="E0C25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SIREN Neural Operator (SIREN)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77640" y="403250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0" y="385876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FDF3C9"/>
          </a:solidFill>
          <a:ln w="15875">
            <a:solidFill>
              <a:srgbClr val="E0C25A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Sine layers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modulated by the design context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270248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D9E8F7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Neural Network (NN)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77640" y="4443984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72000" y="4270248"/>
            <a:ext cx="4023360" cy="347472"/>
          </a:xfrm>
          <a:prstGeom prst="roundRect">
            <a:avLst>
              <a:gd name="adj" fmla="val 18421"/>
            </a:avLst>
          </a:prstGeom>
          <a:solidFill>
            <a:srgbClr val="D9E8F7"/>
          </a:solidFill>
          <a:ln w="15875">
            <a:solidFill>
              <a:srgbClr val="8FB4D9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layers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MLP on the flattened design and f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97280" y="4828032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D9E8F7"/>
          </a:solidFill>
          <a:ln w="12700">
            <a:solidFill>
              <a:srgbClr val="8FB4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444752" y="4809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4828032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EBE2F5"/>
          </a:solidFill>
          <a:ln w="12700">
            <a:solidFill>
              <a:srgbClr val="B39AD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64992" y="4809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4828032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FDE7D3"/>
          </a:solidFill>
          <a:ln w="12700">
            <a:solidFill>
              <a:srgbClr val="EBA46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85232" y="4809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4828032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FDF3C9"/>
          </a:solidFill>
          <a:ln w="12700">
            <a:solidFill>
              <a:srgbClr val="E0C2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05472" y="4809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periodic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980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60704" y="603504"/>
            <a:ext cx="987552" cy="713232"/>
          </a:xfrm>
          <a:prstGeom prst="roundRect">
            <a:avLst>
              <a:gd name="adj" fmla="val 10256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159459" y="819098"/>
            <a:ext cx="790042" cy="282045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3397" y="974558"/>
            <a:ext cx="83942" cy="8394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4111" y="844817"/>
            <a:ext cx="83942" cy="8394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65322" y="935072"/>
            <a:ext cx="83942" cy="8394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82573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Resonator configuration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035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86384" y="2359152"/>
            <a:ext cx="1536192" cy="658368"/>
          </a:xfrm>
          <a:prstGeom prst="roundRect">
            <a:avLst>
              <a:gd name="adj" fmla="val 11111"/>
            </a:avLst>
          </a:prstGeom>
          <a:solidFill>
            <a:srgbClr val="EBE2F5"/>
          </a:solidFill>
          <a:ln w="15875">
            <a:solidFill>
              <a:srgbClr val="B39AD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→ ERP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60704" y="3511296"/>
            <a:ext cx="987552" cy="713232"/>
          </a:xfrm>
          <a:prstGeom prst="roundRect">
            <a:avLst>
              <a:gd name="adj" fmla="val 10256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179210" y="3582619"/>
            <a:ext cx="0" cy="542056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210" y="4124676"/>
            <a:ext cx="79004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8961" y="3625413"/>
            <a:ext cx="750540" cy="470733"/>
          </a:xfrm>
          <a:custGeom>
            <a:avLst/>
            <a:gdLst/>
            <a:ahLst/>
            <a:cxnLst/>
            <a:rect l="l" t="t" r="r" b="b"/>
            <a:pathLst>
              <a:path w="750540" h="470733">
                <a:moveTo>
                  <a:pt x="0" y="470733"/>
                </a:moveTo>
                <a:lnTo>
                  <a:pt x="8433" y="462731"/>
                </a:lnTo>
                <a:lnTo>
                  <a:pt x="16866" y="455670"/>
                </a:lnTo>
                <a:lnTo>
                  <a:pt x="25299" y="446726"/>
                </a:lnTo>
                <a:lnTo>
                  <a:pt x="33732" y="440606"/>
                </a:lnTo>
                <a:lnTo>
                  <a:pt x="42165" y="434957"/>
                </a:lnTo>
                <a:lnTo>
                  <a:pt x="50598" y="427896"/>
                </a:lnTo>
                <a:lnTo>
                  <a:pt x="59031" y="422718"/>
                </a:lnTo>
                <a:lnTo>
                  <a:pt x="67464" y="417540"/>
                </a:lnTo>
                <a:lnTo>
                  <a:pt x="75897" y="410479"/>
                </a:lnTo>
                <a:lnTo>
                  <a:pt x="84330" y="405301"/>
                </a:lnTo>
                <a:lnTo>
                  <a:pt x="92763" y="398711"/>
                </a:lnTo>
                <a:lnTo>
                  <a:pt x="101196" y="393062"/>
                </a:lnTo>
                <a:lnTo>
                  <a:pt x="109629" y="387413"/>
                </a:lnTo>
                <a:lnTo>
                  <a:pt x="118062" y="379411"/>
                </a:lnTo>
                <a:lnTo>
                  <a:pt x="126495" y="372350"/>
                </a:lnTo>
                <a:lnTo>
                  <a:pt x="134928" y="364818"/>
                </a:lnTo>
                <a:lnTo>
                  <a:pt x="143361" y="352579"/>
                </a:lnTo>
                <a:lnTo>
                  <a:pt x="151795" y="340811"/>
                </a:lnTo>
                <a:lnTo>
                  <a:pt x="160228" y="315862"/>
                </a:lnTo>
                <a:lnTo>
                  <a:pt x="168661" y="272554"/>
                </a:lnTo>
                <a:lnTo>
                  <a:pt x="177094" y="258903"/>
                </a:lnTo>
                <a:lnTo>
                  <a:pt x="185527" y="361523"/>
                </a:lnTo>
                <a:lnTo>
                  <a:pt x="193960" y="375174"/>
                </a:lnTo>
                <a:lnTo>
                  <a:pt x="202393" y="350696"/>
                </a:lnTo>
                <a:lnTo>
                  <a:pt x="210826" y="312096"/>
                </a:lnTo>
                <a:lnTo>
                  <a:pt x="219259" y="269730"/>
                </a:lnTo>
                <a:lnTo>
                  <a:pt x="227692" y="210888"/>
                </a:lnTo>
                <a:lnTo>
                  <a:pt x="236125" y="278674"/>
                </a:lnTo>
                <a:lnTo>
                  <a:pt x="244558" y="304564"/>
                </a:lnTo>
                <a:lnTo>
                  <a:pt x="252991" y="322452"/>
                </a:lnTo>
                <a:lnTo>
                  <a:pt x="261424" y="329042"/>
                </a:lnTo>
                <a:lnTo>
                  <a:pt x="269857" y="330925"/>
                </a:lnTo>
                <a:lnTo>
                  <a:pt x="278290" y="326218"/>
                </a:lnTo>
                <a:lnTo>
                  <a:pt x="286723" y="318216"/>
                </a:lnTo>
                <a:lnTo>
                  <a:pt x="295156" y="305035"/>
                </a:lnTo>
                <a:lnTo>
                  <a:pt x="303589" y="276791"/>
                </a:lnTo>
                <a:lnTo>
                  <a:pt x="312022" y="236308"/>
                </a:lnTo>
                <a:lnTo>
                  <a:pt x="320455" y="198649"/>
                </a:lnTo>
                <a:lnTo>
                  <a:pt x="328888" y="259845"/>
                </a:lnTo>
                <a:lnTo>
                  <a:pt x="337321" y="286206"/>
                </a:lnTo>
                <a:lnTo>
                  <a:pt x="345754" y="307389"/>
                </a:lnTo>
                <a:lnTo>
                  <a:pt x="354187" y="318686"/>
                </a:lnTo>
                <a:lnTo>
                  <a:pt x="362620" y="327630"/>
                </a:lnTo>
                <a:lnTo>
                  <a:pt x="371053" y="336574"/>
                </a:lnTo>
                <a:lnTo>
                  <a:pt x="379486" y="342694"/>
                </a:lnTo>
                <a:lnTo>
                  <a:pt x="387919" y="348813"/>
                </a:lnTo>
                <a:lnTo>
                  <a:pt x="396352" y="353050"/>
                </a:lnTo>
                <a:lnTo>
                  <a:pt x="404785" y="356816"/>
                </a:lnTo>
                <a:lnTo>
                  <a:pt x="413218" y="360582"/>
                </a:lnTo>
                <a:lnTo>
                  <a:pt x="421651" y="363406"/>
                </a:lnTo>
                <a:lnTo>
                  <a:pt x="430084" y="365289"/>
                </a:lnTo>
                <a:lnTo>
                  <a:pt x="438517" y="367172"/>
                </a:lnTo>
                <a:lnTo>
                  <a:pt x="446951" y="366701"/>
                </a:lnTo>
                <a:lnTo>
                  <a:pt x="455384" y="284323"/>
                </a:lnTo>
                <a:lnTo>
                  <a:pt x="463817" y="375645"/>
                </a:lnTo>
                <a:lnTo>
                  <a:pt x="472250" y="376586"/>
                </a:lnTo>
                <a:lnTo>
                  <a:pt x="480683" y="376116"/>
                </a:lnTo>
                <a:lnTo>
                  <a:pt x="489116" y="375174"/>
                </a:lnTo>
                <a:lnTo>
                  <a:pt x="497549" y="373291"/>
                </a:lnTo>
                <a:lnTo>
                  <a:pt x="505982" y="367172"/>
                </a:lnTo>
                <a:lnTo>
                  <a:pt x="514415" y="358699"/>
                </a:lnTo>
                <a:lnTo>
                  <a:pt x="522848" y="343164"/>
                </a:lnTo>
                <a:lnTo>
                  <a:pt x="531281" y="291384"/>
                </a:lnTo>
                <a:lnTo>
                  <a:pt x="539714" y="245252"/>
                </a:lnTo>
                <a:lnTo>
                  <a:pt x="548147" y="325277"/>
                </a:lnTo>
                <a:lnTo>
                  <a:pt x="556580" y="343164"/>
                </a:lnTo>
                <a:lnTo>
                  <a:pt x="565013" y="352108"/>
                </a:lnTo>
                <a:lnTo>
                  <a:pt x="573446" y="357286"/>
                </a:lnTo>
                <a:lnTo>
                  <a:pt x="581879" y="358228"/>
                </a:lnTo>
                <a:lnTo>
                  <a:pt x="590312" y="357757"/>
                </a:lnTo>
                <a:lnTo>
                  <a:pt x="598745" y="355404"/>
                </a:lnTo>
                <a:lnTo>
                  <a:pt x="607178" y="352579"/>
                </a:lnTo>
                <a:lnTo>
                  <a:pt x="615611" y="347401"/>
                </a:lnTo>
                <a:lnTo>
                  <a:pt x="624044" y="342223"/>
                </a:lnTo>
                <a:lnTo>
                  <a:pt x="632477" y="336574"/>
                </a:lnTo>
                <a:lnTo>
                  <a:pt x="640910" y="326689"/>
                </a:lnTo>
                <a:lnTo>
                  <a:pt x="649343" y="317274"/>
                </a:lnTo>
                <a:lnTo>
                  <a:pt x="657776" y="305506"/>
                </a:lnTo>
                <a:lnTo>
                  <a:pt x="666209" y="284323"/>
                </a:lnTo>
                <a:lnTo>
                  <a:pt x="674642" y="259374"/>
                </a:lnTo>
                <a:lnTo>
                  <a:pt x="683075" y="174171"/>
                </a:lnTo>
                <a:lnTo>
                  <a:pt x="691508" y="209947"/>
                </a:lnTo>
                <a:lnTo>
                  <a:pt x="699941" y="258432"/>
                </a:lnTo>
                <a:lnTo>
                  <a:pt x="708374" y="289030"/>
                </a:lnTo>
                <a:lnTo>
                  <a:pt x="716807" y="303623"/>
                </a:lnTo>
                <a:lnTo>
                  <a:pt x="725240" y="314920"/>
                </a:lnTo>
                <a:lnTo>
                  <a:pt x="733673" y="326218"/>
                </a:lnTo>
                <a:lnTo>
                  <a:pt x="742106" y="333279"/>
                </a:lnTo>
                <a:lnTo>
                  <a:pt x="750540" y="341282"/>
                </a:lnTo>
              </a:path>
            </a:pathLst>
          </a:custGeom>
          <a:ln w="254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290365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spectrum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5112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554480" y="1645920"/>
            <a:ext cx="0" cy="696773"/>
          </a:xfrm>
          <a:prstGeom prst="line">
            <a:avLst/>
          </a:prstGeom>
          <a:noFill/>
          <a:ln w="2540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554480" y="3033979"/>
            <a:ext cx="0" cy="455371"/>
          </a:xfrm>
          <a:prstGeom prst="line">
            <a:avLst/>
          </a:prstGeom>
          <a:noFill/>
          <a:ln w="2540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37744" y="4463186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D6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design gives one ERP  (one-to-one)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27980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86784" y="603504"/>
            <a:ext cx="987552" cy="713232"/>
          </a:xfrm>
          <a:prstGeom prst="roundRect">
            <a:avLst>
              <a:gd name="adj" fmla="val 10256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105290" y="674827"/>
            <a:ext cx="0" cy="542056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05290" y="1216884"/>
            <a:ext cx="79004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25041" y="717621"/>
            <a:ext cx="750540" cy="470733"/>
          </a:xfrm>
          <a:custGeom>
            <a:avLst/>
            <a:gdLst/>
            <a:ahLst/>
            <a:cxnLst/>
            <a:rect l="l" t="t" r="r" b="b"/>
            <a:pathLst>
              <a:path w="750540" h="470733">
                <a:moveTo>
                  <a:pt x="0" y="470733"/>
                </a:moveTo>
                <a:lnTo>
                  <a:pt x="8433" y="462731"/>
                </a:lnTo>
                <a:lnTo>
                  <a:pt x="16866" y="455670"/>
                </a:lnTo>
                <a:lnTo>
                  <a:pt x="25299" y="446726"/>
                </a:lnTo>
                <a:lnTo>
                  <a:pt x="33732" y="440606"/>
                </a:lnTo>
                <a:lnTo>
                  <a:pt x="42165" y="434957"/>
                </a:lnTo>
                <a:lnTo>
                  <a:pt x="50598" y="427896"/>
                </a:lnTo>
                <a:lnTo>
                  <a:pt x="59031" y="422718"/>
                </a:lnTo>
                <a:lnTo>
                  <a:pt x="67464" y="417540"/>
                </a:lnTo>
                <a:lnTo>
                  <a:pt x="75897" y="410479"/>
                </a:lnTo>
                <a:lnTo>
                  <a:pt x="84330" y="405301"/>
                </a:lnTo>
                <a:lnTo>
                  <a:pt x="92763" y="398711"/>
                </a:lnTo>
                <a:lnTo>
                  <a:pt x="101196" y="393062"/>
                </a:lnTo>
                <a:lnTo>
                  <a:pt x="109629" y="387413"/>
                </a:lnTo>
                <a:lnTo>
                  <a:pt x="118062" y="379411"/>
                </a:lnTo>
                <a:lnTo>
                  <a:pt x="126495" y="372350"/>
                </a:lnTo>
                <a:lnTo>
                  <a:pt x="134928" y="364818"/>
                </a:lnTo>
                <a:lnTo>
                  <a:pt x="143361" y="352579"/>
                </a:lnTo>
                <a:lnTo>
                  <a:pt x="151795" y="340811"/>
                </a:lnTo>
                <a:lnTo>
                  <a:pt x="160228" y="315862"/>
                </a:lnTo>
                <a:lnTo>
                  <a:pt x="168661" y="272554"/>
                </a:lnTo>
                <a:lnTo>
                  <a:pt x="177094" y="258903"/>
                </a:lnTo>
                <a:lnTo>
                  <a:pt x="185527" y="361523"/>
                </a:lnTo>
                <a:lnTo>
                  <a:pt x="193960" y="375174"/>
                </a:lnTo>
                <a:lnTo>
                  <a:pt x="202393" y="350696"/>
                </a:lnTo>
                <a:lnTo>
                  <a:pt x="210826" y="312096"/>
                </a:lnTo>
                <a:lnTo>
                  <a:pt x="219259" y="269730"/>
                </a:lnTo>
                <a:lnTo>
                  <a:pt x="227692" y="210888"/>
                </a:lnTo>
                <a:lnTo>
                  <a:pt x="236125" y="278674"/>
                </a:lnTo>
                <a:lnTo>
                  <a:pt x="244558" y="304564"/>
                </a:lnTo>
                <a:lnTo>
                  <a:pt x="252991" y="322452"/>
                </a:lnTo>
                <a:lnTo>
                  <a:pt x="261424" y="329042"/>
                </a:lnTo>
                <a:lnTo>
                  <a:pt x="269857" y="330925"/>
                </a:lnTo>
                <a:lnTo>
                  <a:pt x="278290" y="326218"/>
                </a:lnTo>
                <a:lnTo>
                  <a:pt x="286723" y="318216"/>
                </a:lnTo>
                <a:lnTo>
                  <a:pt x="295156" y="305035"/>
                </a:lnTo>
                <a:lnTo>
                  <a:pt x="303589" y="276791"/>
                </a:lnTo>
                <a:lnTo>
                  <a:pt x="312022" y="236308"/>
                </a:lnTo>
                <a:lnTo>
                  <a:pt x="320455" y="198649"/>
                </a:lnTo>
                <a:lnTo>
                  <a:pt x="328888" y="259845"/>
                </a:lnTo>
                <a:lnTo>
                  <a:pt x="337321" y="286206"/>
                </a:lnTo>
                <a:lnTo>
                  <a:pt x="345754" y="307389"/>
                </a:lnTo>
                <a:lnTo>
                  <a:pt x="354187" y="318686"/>
                </a:lnTo>
                <a:lnTo>
                  <a:pt x="362620" y="327630"/>
                </a:lnTo>
                <a:lnTo>
                  <a:pt x="371053" y="336574"/>
                </a:lnTo>
                <a:lnTo>
                  <a:pt x="379486" y="342694"/>
                </a:lnTo>
                <a:lnTo>
                  <a:pt x="387919" y="348813"/>
                </a:lnTo>
                <a:lnTo>
                  <a:pt x="396352" y="353050"/>
                </a:lnTo>
                <a:lnTo>
                  <a:pt x="404785" y="356816"/>
                </a:lnTo>
                <a:lnTo>
                  <a:pt x="413218" y="360582"/>
                </a:lnTo>
                <a:lnTo>
                  <a:pt x="421651" y="363406"/>
                </a:lnTo>
                <a:lnTo>
                  <a:pt x="430084" y="365289"/>
                </a:lnTo>
                <a:lnTo>
                  <a:pt x="438517" y="367172"/>
                </a:lnTo>
                <a:lnTo>
                  <a:pt x="446951" y="366701"/>
                </a:lnTo>
                <a:lnTo>
                  <a:pt x="455384" y="284323"/>
                </a:lnTo>
                <a:lnTo>
                  <a:pt x="463817" y="375645"/>
                </a:lnTo>
                <a:lnTo>
                  <a:pt x="472250" y="376586"/>
                </a:lnTo>
                <a:lnTo>
                  <a:pt x="480683" y="376116"/>
                </a:lnTo>
                <a:lnTo>
                  <a:pt x="489116" y="375174"/>
                </a:lnTo>
                <a:lnTo>
                  <a:pt x="497549" y="373291"/>
                </a:lnTo>
                <a:lnTo>
                  <a:pt x="505982" y="367172"/>
                </a:lnTo>
                <a:lnTo>
                  <a:pt x="514415" y="358699"/>
                </a:lnTo>
                <a:lnTo>
                  <a:pt x="522848" y="343164"/>
                </a:lnTo>
                <a:lnTo>
                  <a:pt x="531281" y="291384"/>
                </a:lnTo>
                <a:lnTo>
                  <a:pt x="539714" y="245252"/>
                </a:lnTo>
                <a:lnTo>
                  <a:pt x="548147" y="325277"/>
                </a:lnTo>
                <a:lnTo>
                  <a:pt x="556580" y="343164"/>
                </a:lnTo>
                <a:lnTo>
                  <a:pt x="565013" y="352108"/>
                </a:lnTo>
                <a:lnTo>
                  <a:pt x="573446" y="357286"/>
                </a:lnTo>
                <a:lnTo>
                  <a:pt x="581879" y="358228"/>
                </a:lnTo>
                <a:lnTo>
                  <a:pt x="590312" y="357757"/>
                </a:lnTo>
                <a:lnTo>
                  <a:pt x="598745" y="355404"/>
                </a:lnTo>
                <a:lnTo>
                  <a:pt x="607178" y="352579"/>
                </a:lnTo>
                <a:lnTo>
                  <a:pt x="615611" y="347401"/>
                </a:lnTo>
                <a:lnTo>
                  <a:pt x="624044" y="342223"/>
                </a:lnTo>
                <a:lnTo>
                  <a:pt x="632477" y="336574"/>
                </a:lnTo>
                <a:lnTo>
                  <a:pt x="640910" y="326689"/>
                </a:lnTo>
                <a:lnTo>
                  <a:pt x="649343" y="317274"/>
                </a:lnTo>
                <a:lnTo>
                  <a:pt x="657776" y="305506"/>
                </a:lnTo>
                <a:lnTo>
                  <a:pt x="666209" y="284323"/>
                </a:lnTo>
                <a:lnTo>
                  <a:pt x="674642" y="259374"/>
                </a:lnTo>
                <a:lnTo>
                  <a:pt x="683075" y="174171"/>
                </a:lnTo>
                <a:lnTo>
                  <a:pt x="691508" y="209947"/>
                </a:lnTo>
                <a:lnTo>
                  <a:pt x="699941" y="258432"/>
                </a:lnTo>
                <a:lnTo>
                  <a:pt x="708374" y="289030"/>
                </a:lnTo>
                <a:lnTo>
                  <a:pt x="716807" y="303623"/>
                </a:lnTo>
                <a:lnTo>
                  <a:pt x="725240" y="314920"/>
                </a:lnTo>
                <a:lnTo>
                  <a:pt x="733673" y="326218"/>
                </a:lnTo>
                <a:lnTo>
                  <a:pt x="742106" y="333279"/>
                </a:lnTo>
                <a:lnTo>
                  <a:pt x="750540" y="341282"/>
                </a:lnTo>
              </a:path>
            </a:pathLst>
          </a:custGeom>
          <a:ln w="254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1382573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spectrum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60350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12464" y="2359152"/>
            <a:ext cx="1536192" cy="658368"/>
          </a:xfrm>
          <a:prstGeom prst="roundRect">
            <a:avLst>
              <a:gd name="adj" fmla="val 11111"/>
            </a:avLst>
          </a:prstGeom>
          <a:solidFill>
            <a:srgbClr val="EBE2F5"/>
          </a:solidFill>
          <a:ln w="15875">
            <a:solidFill>
              <a:srgbClr val="B39AD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→ design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73552" y="3621024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344875" y="3793494"/>
            <a:ext cx="570586" cy="203699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34386" y="3905771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22679" y="3812070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82443" y="3877254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3621024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195267" y="3793494"/>
            <a:ext cx="570586" cy="203699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67660" y="3812070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10307" y="3917993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92894" y="3844662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3621024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045659" y="3793494"/>
            <a:ext cx="570586" cy="203699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97934" y="3865032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80522" y="3795774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23168" y="3917993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83280" y="424647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designs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3273552" y="33741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480560" y="1645920"/>
            <a:ext cx="0" cy="696773"/>
          </a:xfrm>
          <a:prstGeom prst="line">
            <a:avLst/>
          </a:prstGeom>
          <a:noFill/>
          <a:ln w="2540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3630168" y="3033979"/>
            <a:ext cx="411480" cy="565099"/>
          </a:xfrm>
          <a:prstGeom prst="line">
            <a:avLst/>
          </a:prstGeom>
          <a:noFill/>
          <a:ln w="2540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480560" y="3033979"/>
            <a:ext cx="0" cy="565099"/>
          </a:xfrm>
          <a:prstGeom prst="line">
            <a:avLst/>
          </a:prstGeom>
          <a:noFill/>
          <a:ln w="2540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919472" y="3033979"/>
            <a:ext cx="411480" cy="565099"/>
          </a:xfrm>
          <a:prstGeom prst="line">
            <a:avLst/>
          </a:prstGeom>
          <a:noFill/>
          <a:ln w="2540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3163824" y="4463186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designs share one ERP  (many-to-one)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0" y="27980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Invertible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99632" y="932688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270955" y="1105158"/>
            <a:ext cx="570586" cy="203699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60466" y="1217435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48759" y="1123734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08523" y="1188918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0024" y="932688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7121347" y="1105158"/>
            <a:ext cx="570586" cy="203699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93740" y="1123734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36387" y="1229657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18974" y="1156326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00416" y="932688"/>
            <a:ext cx="713232" cy="548640"/>
          </a:xfrm>
          <a:prstGeom prst="roundRect">
            <a:avLst>
              <a:gd name="adj" fmla="val 13333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7971739" y="1105158"/>
            <a:ext cx="570586" cy="203699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24014" y="1176696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06602" y="1107438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49248" y="1229657"/>
            <a:ext cx="60625" cy="6062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09360" y="669341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Resonator configurations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638544" y="2468880"/>
            <a:ext cx="1536192" cy="658368"/>
          </a:xfrm>
          <a:prstGeom prst="roundRect">
            <a:avLst>
              <a:gd name="adj" fmla="val 11111"/>
            </a:avLst>
          </a:prstGeom>
          <a:solidFill>
            <a:srgbClr val="EBE2F5"/>
          </a:solidFill>
          <a:ln w="15875">
            <a:solidFill>
              <a:srgbClr val="B39AD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↔ ERP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912864" y="3785616"/>
            <a:ext cx="987552" cy="713232"/>
          </a:xfrm>
          <a:prstGeom prst="roundRect">
            <a:avLst>
              <a:gd name="adj" fmla="val 10256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7031370" y="3856939"/>
            <a:ext cx="0" cy="542056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31370" y="4398996"/>
            <a:ext cx="79004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51121" y="3899733"/>
            <a:ext cx="750540" cy="470733"/>
          </a:xfrm>
          <a:custGeom>
            <a:avLst/>
            <a:gdLst/>
            <a:ahLst/>
            <a:cxnLst/>
            <a:rect l="l" t="t" r="r" b="b"/>
            <a:pathLst>
              <a:path w="750540" h="470733">
                <a:moveTo>
                  <a:pt x="0" y="470733"/>
                </a:moveTo>
                <a:lnTo>
                  <a:pt x="8433" y="462731"/>
                </a:lnTo>
                <a:lnTo>
                  <a:pt x="16866" y="455670"/>
                </a:lnTo>
                <a:lnTo>
                  <a:pt x="25299" y="446726"/>
                </a:lnTo>
                <a:lnTo>
                  <a:pt x="33732" y="440606"/>
                </a:lnTo>
                <a:lnTo>
                  <a:pt x="42165" y="434957"/>
                </a:lnTo>
                <a:lnTo>
                  <a:pt x="50598" y="427896"/>
                </a:lnTo>
                <a:lnTo>
                  <a:pt x="59031" y="422718"/>
                </a:lnTo>
                <a:lnTo>
                  <a:pt x="67464" y="417540"/>
                </a:lnTo>
                <a:lnTo>
                  <a:pt x="75897" y="410479"/>
                </a:lnTo>
                <a:lnTo>
                  <a:pt x="84330" y="405301"/>
                </a:lnTo>
                <a:lnTo>
                  <a:pt x="92763" y="398711"/>
                </a:lnTo>
                <a:lnTo>
                  <a:pt x="101196" y="393062"/>
                </a:lnTo>
                <a:lnTo>
                  <a:pt x="109629" y="387413"/>
                </a:lnTo>
                <a:lnTo>
                  <a:pt x="118062" y="379411"/>
                </a:lnTo>
                <a:lnTo>
                  <a:pt x="126495" y="372350"/>
                </a:lnTo>
                <a:lnTo>
                  <a:pt x="134928" y="364818"/>
                </a:lnTo>
                <a:lnTo>
                  <a:pt x="143361" y="352579"/>
                </a:lnTo>
                <a:lnTo>
                  <a:pt x="151795" y="340811"/>
                </a:lnTo>
                <a:lnTo>
                  <a:pt x="160228" y="315862"/>
                </a:lnTo>
                <a:lnTo>
                  <a:pt x="168661" y="272554"/>
                </a:lnTo>
                <a:lnTo>
                  <a:pt x="177094" y="258903"/>
                </a:lnTo>
                <a:lnTo>
                  <a:pt x="185527" y="361523"/>
                </a:lnTo>
                <a:lnTo>
                  <a:pt x="193960" y="375174"/>
                </a:lnTo>
                <a:lnTo>
                  <a:pt x="202393" y="350696"/>
                </a:lnTo>
                <a:lnTo>
                  <a:pt x="210826" y="312096"/>
                </a:lnTo>
                <a:lnTo>
                  <a:pt x="219259" y="269730"/>
                </a:lnTo>
                <a:lnTo>
                  <a:pt x="227692" y="210888"/>
                </a:lnTo>
                <a:lnTo>
                  <a:pt x="236125" y="278674"/>
                </a:lnTo>
                <a:lnTo>
                  <a:pt x="244558" y="304564"/>
                </a:lnTo>
                <a:lnTo>
                  <a:pt x="252991" y="322452"/>
                </a:lnTo>
                <a:lnTo>
                  <a:pt x="261424" y="329042"/>
                </a:lnTo>
                <a:lnTo>
                  <a:pt x="269857" y="330925"/>
                </a:lnTo>
                <a:lnTo>
                  <a:pt x="278290" y="326218"/>
                </a:lnTo>
                <a:lnTo>
                  <a:pt x="286723" y="318216"/>
                </a:lnTo>
                <a:lnTo>
                  <a:pt x="295156" y="305035"/>
                </a:lnTo>
                <a:lnTo>
                  <a:pt x="303589" y="276791"/>
                </a:lnTo>
                <a:lnTo>
                  <a:pt x="312022" y="236308"/>
                </a:lnTo>
                <a:lnTo>
                  <a:pt x="320455" y="198649"/>
                </a:lnTo>
                <a:lnTo>
                  <a:pt x="328888" y="259845"/>
                </a:lnTo>
                <a:lnTo>
                  <a:pt x="337321" y="286206"/>
                </a:lnTo>
                <a:lnTo>
                  <a:pt x="345754" y="307389"/>
                </a:lnTo>
                <a:lnTo>
                  <a:pt x="354187" y="318686"/>
                </a:lnTo>
                <a:lnTo>
                  <a:pt x="362620" y="327630"/>
                </a:lnTo>
                <a:lnTo>
                  <a:pt x="371053" y="336574"/>
                </a:lnTo>
                <a:lnTo>
                  <a:pt x="379486" y="342694"/>
                </a:lnTo>
                <a:lnTo>
                  <a:pt x="387919" y="348813"/>
                </a:lnTo>
                <a:lnTo>
                  <a:pt x="396352" y="353050"/>
                </a:lnTo>
                <a:lnTo>
                  <a:pt x="404785" y="356816"/>
                </a:lnTo>
                <a:lnTo>
                  <a:pt x="413218" y="360582"/>
                </a:lnTo>
                <a:lnTo>
                  <a:pt x="421651" y="363406"/>
                </a:lnTo>
                <a:lnTo>
                  <a:pt x="430084" y="365289"/>
                </a:lnTo>
                <a:lnTo>
                  <a:pt x="438517" y="367172"/>
                </a:lnTo>
                <a:lnTo>
                  <a:pt x="446951" y="366701"/>
                </a:lnTo>
                <a:lnTo>
                  <a:pt x="455384" y="284323"/>
                </a:lnTo>
                <a:lnTo>
                  <a:pt x="463817" y="375645"/>
                </a:lnTo>
                <a:lnTo>
                  <a:pt x="472250" y="376586"/>
                </a:lnTo>
                <a:lnTo>
                  <a:pt x="480683" y="376116"/>
                </a:lnTo>
                <a:lnTo>
                  <a:pt x="489116" y="375174"/>
                </a:lnTo>
                <a:lnTo>
                  <a:pt x="497549" y="373291"/>
                </a:lnTo>
                <a:lnTo>
                  <a:pt x="505982" y="367172"/>
                </a:lnTo>
                <a:lnTo>
                  <a:pt x="514415" y="358699"/>
                </a:lnTo>
                <a:lnTo>
                  <a:pt x="522848" y="343164"/>
                </a:lnTo>
                <a:lnTo>
                  <a:pt x="531281" y="291384"/>
                </a:lnTo>
                <a:lnTo>
                  <a:pt x="539714" y="245252"/>
                </a:lnTo>
                <a:lnTo>
                  <a:pt x="548147" y="325277"/>
                </a:lnTo>
                <a:lnTo>
                  <a:pt x="556580" y="343164"/>
                </a:lnTo>
                <a:lnTo>
                  <a:pt x="565013" y="352108"/>
                </a:lnTo>
                <a:lnTo>
                  <a:pt x="573446" y="357286"/>
                </a:lnTo>
                <a:lnTo>
                  <a:pt x="581879" y="358228"/>
                </a:lnTo>
                <a:lnTo>
                  <a:pt x="590312" y="357757"/>
                </a:lnTo>
                <a:lnTo>
                  <a:pt x="598745" y="355404"/>
                </a:lnTo>
                <a:lnTo>
                  <a:pt x="607178" y="352579"/>
                </a:lnTo>
                <a:lnTo>
                  <a:pt x="615611" y="347401"/>
                </a:lnTo>
                <a:lnTo>
                  <a:pt x="624044" y="342223"/>
                </a:lnTo>
                <a:lnTo>
                  <a:pt x="632477" y="336574"/>
                </a:lnTo>
                <a:lnTo>
                  <a:pt x="640910" y="326689"/>
                </a:lnTo>
                <a:lnTo>
                  <a:pt x="649343" y="317274"/>
                </a:lnTo>
                <a:lnTo>
                  <a:pt x="657776" y="305506"/>
                </a:lnTo>
                <a:lnTo>
                  <a:pt x="666209" y="284323"/>
                </a:lnTo>
                <a:lnTo>
                  <a:pt x="674642" y="259374"/>
                </a:lnTo>
                <a:lnTo>
                  <a:pt x="683075" y="174171"/>
                </a:lnTo>
                <a:lnTo>
                  <a:pt x="691508" y="209947"/>
                </a:lnTo>
                <a:lnTo>
                  <a:pt x="699941" y="258432"/>
                </a:lnTo>
                <a:lnTo>
                  <a:pt x="708374" y="289030"/>
                </a:lnTo>
                <a:lnTo>
                  <a:pt x="716807" y="303623"/>
                </a:lnTo>
                <a:lnTo>
                  <a:pt x="725240" y="314920"/>
                </a:lnTo>
                <a:lnTo>
                  <a:pt x="733673" y="326218"/>
                </a:lnTo>
                <a:lnTo>
                  <a:pt x="742106" y="333279"/>
                </a:lnTo>
                <a:lnTo>
                  <a:pt x="750540" y="341282"/>
                </a:lnTo>
              </a:path>
            </a:pathLst>
          </a:custGeom>
          <a:ln w="254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309360" y="4564685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spectrum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468466" y="1514246"/>
            <a:ext cx="356616" cy="938174"/>
          </a:xfrm>
          <a:prstGeom prst="line">
            <a:avLst/>
          </a:prstGeom>
          <a:noFill/>
          <a:ln w="22225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 flipV="1">
            <a:off x="6644030" y="1514246"/>
            <a:ext cx="356616" cy="938174"/>
          </a:xfrm>
          <a:prstGeom prst="line">
            <a:avLst/>
          </a:prstGeom>
          <a:noFill/>
          <a:ln w="22225">
            <a:solidFill>
              <a:srgbClr val="E8632B"/>
            </a:solidFill>
            <a:prstDash val="dash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7318858" y="1514246"/>
            <a:ext cx="0" cy="938174"/>
          </a:xfrm>
          <a:prstGeom prst="line">
            <a:avLst/>
          </a:prstGeom>
          <a:noFill/>
          <a:ln w="22225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 flipV="1">
            <a:off x="7494422" y="1514246"/>
            <a:ext cx="0" cy="938174"/>
          </a:xfrm>
          <a:prstGeom prst="line">
            <a:avLst/>
          </a:prstGeom>
          <a:noFill/>
          <a:ln w="22225">
            <a:solidFill>
              <a:srgbClr val="E8632B"/>
            </a:solidFill>
            <a:prstDash val="dash"/>
            <a:tailEnd type="triangle"/>
          </a:ln>
        </p:spPr>
      </p:sp>
      <p:sp>
        <p:nvSpPr>
          <p:cNvPr id="77" name="Shape 75"/>
          <p:cNvSpPr/>
          <p:nvPr/>
        </p:nvSpPr>
        <p:spPr>
          <a:xfrm flipH="1">
            <a:off x="7812634" y="1514246"/>
            <a:ext cx="356616" cy="938174"/>
          </a:xfrm>
          <a:prstGeom prst="line">
            <a:avLst/>
          </a:prstGeom>
          <a:noFill/>
          <a:ln w="22225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7988198" y="1514246"/>
            <a:ext cx="356616" cy="938174"/>
          </a:xfrm>
          <a:prstGeom prst="line">
            <a:avLst/>
          </a:prstGeom>
          <a:noFill/>
          <a:ln w="22225">
            <a:solidFill>
              <a:srgbClr val="E8632B"/>
            </a:solidFill>
            <a:prstDash val="dash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7242048" y="3143707"/>
            <a:ext cx="0" cy="619963"/>
          </a:xfrm>
          <a:prstGeom prst="line">
            <a:avLst/>
          </a:prstGeom>
          <a:noFill/>
          <a:ln w="22225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V="1">
            <a:off x="7571232" y="3143707"/>
            <a:ext cx="0" cy="576072"/>
          </a:xfrm>
          <a:prstGeom prst="line">
            <a:avLst/>
          </a:prstGeom>
          <a:noFill/>
          <a:ln w="22225">
            <a:solidFill>
              <a:srgbClr val="E8632B"/>
            </a:solidFill>
            <a:prstDash val="dash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845552" y="3511296"/>
            <a:ext cx="27432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82" name="Text 80"/>
          <p:cNvSpPr txBox="1"/>
          <p:nvPr/>
        </p:nvSpPr>
        <p:spPr>
          <a:xfrm>
            <a:off x="8174736" y="342900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D6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 flipH="1">
            <a:off x="7845552" y="3730752"/>
            <a:ext cx="274320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84" name="Text 82"/>
          <p:cNvSpPr txBox="1"/>
          <p:nvPr/>
        </p:nvSpPr>
        <p:spPr>
          <a:xfrm>
            <a:off x="8174736" y="364845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</a:t>
            </a:r>
            <a:endParaRPr lang="en-US" sz="700" dirty="0"/>
          </a:p>
        </p:txBody>
      </p:sp>
      <p:sp>
        <p:nvSpPr>
          <p:cNvPr id="85" name="Text 83"/>
          <p:cNvSpPr txBox="1"/>
          <p:nvPr/>
        </p:nvSpPr>
        <p:spPr>
          <a:xfrm>
            <a:off x="6035040" y="466892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forward: every design gives the same ERP;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inverse: that ERP gives several designs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5715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Invertible DeepONet (Q8, Q64)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691640" y="982980"/>
            <a:ext cx="3840480" cy="1440180"/>
          </a:xfrm>
          <a:prstGeom prst="roundRect">
            <a:avLst>
              <a:gd name="adj" fmla="val 3810"/>
            </a:avLst>
          </a:prstGeom>
          <a:ln w="22225">
            <a:solidFill>
              <a:srgbClr val="8FB4D9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240280" y="1034415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network (invertible)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691640" y="2697480"/>
            <a:ext cx="3840480" cy="1200150"/>
          </a:xfrm>
          <a:prstGeom prst="roundRect">
            <a:avLst>
              <a:gd name="adj" fmla="val 4571"/>
            </a:avLst>
          </a:prstGeom>
          <a:ln w="22225">
            <a:solidFill>
              <a:srgbClr val="97C79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240280" y="2748915"/>
            <a:ext cx="27432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Trunk network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94460"/>
            <a:ext cx="891540" cy="685800"/>
          </a:xfrm>
          <a:prstGeom prst="roundRect">
            <a:avLst>
              <a:gd name="adj" fmla="val 10667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6354" y="1610048"/>
            <a:ext cx="713232" cy="254624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433" y="1699470"/>
            <a:ext cx="75781" cy="757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4785" y="1699470"/>
            <a:ext cx="75781" cy="757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330" y="216255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</a:t>
            </a:r>
            <a:pPr algn="ctr" indent="0" marL="0">
              <a:buNone/>
            </a:pPr>
            <a:r>
              <a:rPr lang="en-US" sz="85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850" i="1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  <a:pPr algn="ctr" indent="0" marL="0">
              <a:buNone/>
            </a:pPr>
            <a:r>
              <a:rPr lang="en-US" sz="8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34540" y="1394460"/>
            <a:ext cx="1851660" cy="754380"/>
          </a:xfrm>
          <a:prstGeom prst="roundRect">
            <a:avLst>
              <a:gd name="adj" fmla="val 9697"/>
            </a:avLst>
          </a:prstGeom>
          <a:solidFill>
            <a:srgbClr val="D9E8F7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RealNVP </a:t>
            </a:r>
            <a:pPr algn="ctr" indent="0" marL="0">
              <a:buNone/>
            </a:pPr>
            <a:r>
              <a:rPr lang="en-US" sz="1200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bijection on 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ℝ</a:t>
            </a:r>
            <a:pPr algn="ctr" indent="0" marL="0">
              <a:buNone/>
            </a:pPr>
            <a:r>
              <a:rPr lang="en-US" sz="700" i="1" baseline="300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pad with zeros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1394460"/>
            <a:ext cx="754380" cy="754380"/>
          </a:xfrm>
          <a:prstGeom prst="roundRect">
            <a:avLst>
              <a:gd name="adj" fmla="val 9697"/>
            </a:avLst>
          </a:prstGeom>
          <a:solidFill>
            <a:srgbClr val="D9E8F7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94810" y="2196846"/>
            <a:ext cx="12344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algn="ctr" indent="0" marL="0">
              <a:buNone/>
            </a:pPr>
            <a:r>
              <a:rPr lang="en-US" sz="8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coefficients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931670" y="2196846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Q8: </a:t>
            </a:r>
            <a:pPr algn="ctr" indent="0" marL="0">
              <a:buNone/>
            </a:pPr>
            <a:r>
              <a:rPr lang="en-US" sz="75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pPr algn="ctr" indent="0" marL="0">
              <a:buNone/>
            </a:pPr>
            <a:r>
              <a:rPr lang="en-US" sz="75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|   Q64: </a:t>
            </a:r>
            <a:pPr algn="ctr" indent="0" marL="0">
              <a:buNone/>
            </a:pPr>
            <a:r>
              <a:rPr lang="en-US" sz="75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422910" y="31089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34540" y="3040380"/>
            <a:ext cx="1851660" cy="617220"/>
          </a:xfrm>
          <a:prstGeom prst="roundRect">
            <a:avLst>
              <a:gd name="adj" fmla="val 11852"/>
            </a:avLst>
          </a:prstGeom>
          <a:solidFill>
            <a:srgbClr val="E1F1DE"/>
          </a:solidFill>
          <a:ln w="15875">
            <a:solidFill>
              <a:srgbClr val="97C79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Trunk net</a:t>
            </a:r>
            <a:endParaRPr lang="en-US" sz="12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layers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3040380"/>
            <a:ext cx="754380" cy="617220"/>
          </a:xfrm>
          <a:prstGeom prst="roundRect">
            <a:avLst>
              <a:gd name="adj" fmla="val 11852"/>
            </a:avLst>
          </a:prstGeom>
          <a:solidFill>
            <a:srgbClr val="E1F1DE"/>
          </a:solidFill>
          <a:ln w="15875">
            <a:solidFill>
              <a:srgbClr val="97C79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pPr algn="ctr" indent="0" marL="0">
              <a:buNone/>
            </a:pPr>
            <a:r>
              <a:rPr lang="en-US" sz="12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1250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12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989070" y="3712464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basis, QR-orthonormal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28766" y="1545336"/>
            <a:ext cx="452628" cy="4526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0790" y="1737360"/>
            <a:ext cx="68580" cy="68580"/>
          </a:xfrm>
          <a:prstGeom prst="ellipse">
            <a:avLst/>
          </a:prstGeom>
          <a:solidFill>
            <a:srgbClr val="1C3550"/>
          </a:solidFill>
          <a:ln w="6350">
            <a:solidFill>
              <a:srgbClr val="1C35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37860" y="1260729"/>
            <a:ext cx="12344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pPr algn="ctr" indent="0" marL="0">
              <a:buNone/>
            </a:pPr>
            <a:r>
              <a:rPr lang="en-US" sz="950" b="1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algn="ctr" indent="0" marL="0">
              <a:buNone/>
            </a:pPr>
            <a:r>
              <a:rPr lang="en-US" sz="9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pPr algn="ctr" indent="0" marL="0">
              <a:buNone/>
            </a:pPr>
            <a:r>
              <a:rPr lang="en-US" sz="950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pPr algn="ctr" indent="0" marL="0">
              <a:buNone/>
            </a:pPr>
            <a:r>
              <a:rPr lang="en-US" sz="950" baseline="-400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26680" y="1428750"/>
            <a:ext cx="891540" cy="685800"/>
          </a:xfrm>
          <a:prstGeom prst="roundRect">
            <a:avLst>
              <a:gd name="adj" fmla="val 10667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833665" y="1497330"/>
            <a:ext cx="0" cy="52120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33665" y="2018538"/>
            <a:ext cx="7132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1496" y="1538478"/>
            <a:ext cx="677570" cy="452628"/>
          </a:xfrm>
          <a:custGeom>
            <a:avLst/>
            <a:gdLst/>
            <a:ahLst/>
            <a:cxnLst/>
            <a:rect l="l" t="t" r="r" b="b"/>
            <a:pathLst>
              <a:path w="677570" h="452628">
                <a:moveTo>
                  <a:pt x="0" y="452628"/>
                </a:moveTo>
                <a:lnTo>
                  <a:pt x="7613" y="444933"/>
                </a:lnTo>
                <a:lnTo>
                  <a:pt x="15226" y="438144"/>
                </a:lnTo>
                <a:lnTo>
                  <a:pt x="22839" y="429544"/>
                </a:lnTo>
                <a:lnTo>
                  <a:pt x="30453" y="423660"/>
                </a:lnTo>
                <a:lnTo>
                  <a:pt x="38066" y="418228"/>
                </a:lnTo>
                <a:lnTo>
                  <a:pt x="45679" y="411439"/>
                </a:lnTo>
                <a:lnTo>
                  <a:pt x="53292" y="406460"/>
                </a:lnTo>
                <a:lnTo>
                  <a:pt x="60905" y="401481"/>
                </a:lnTo>
                <a:lnTo>
                  <a:pt x="68518" y="394692"/>
                </a:lnTo>
                <a:lnTo>
                  <a:pt x="76132" y="389713"/>
                </a:lnTo>
                <a:lnTo>
                  <a:pt x="83745" y="383376"/>
                </a:lnTo>
                <a:lnTo>
                  <a:pt x="91358" y="377944"/>
                </a:lnTo>
                <a:lnTo>
                  <a:pt x="98971" y="372513"/>
                </a:lnTo>
                <a:lnTo>
                  <a:pt x="106584" y="364818"/>
                </a:lnTo>
                <a:lnTo>
                  <a:pt x="114197" y="358029"/>
                </a:lnTo>
                <a:lnTo>
                  <a:pt x="121810" y="350787"/>
                </a:lnTo>
                <a:lnTo>
                  <a:pt x="129424" y="339018"/>
                </a:lnTo>
                <a:lnTo>
                  <a:pt x="137037" y="327703"/>
                </a:lnTo>
                <a:lnTo>
                  <a:pt x="144650" y="303713"/>
                </a:lnTo>
                <a:lnTo>
                  <a:pt x="152263" y="262072"/>
                </a:lnTo>
                <a:lnTo>
                  <a:pt x="159876" y="248945"/>
                </a:lnTo>
                <a:lnTo>
                  <a:pt x="167489" y="347618"/>
                </a:lnTo>
                <a:lnTo>
                  <a:pt x="175102" y="360745"/>
                </a:lnTo>
                <a:lnTo>
                  <a:pt x="182716" y="337208"/>
                </a:lnTo>
                <a:lnTo>
                  <a:pt x="190329" y="300092"/>
                </a:lnTo>
                <a:lnTo>
                  <a:pt x="197942" y="259356"/>
                </a:lnTo>
                <a:lnTo>
                  <a:pt x="205555" y="202777"/>
                </a:lnTo>
                <a:lnTo>
                  <a:pt x="213168" y="267956"/>
                </a:lnTo>
                <a:lnTo>
                  <a:pt x="220781" y="292850"/>
                </a:lnTo>
                <a:lnTo>
                  <a:pt x="228395" y="310050"/>
                </a:lnTo>
                <a:lnTo>
                  <a:pt x="236008" y="316387"/>
                </a:lnTo>
                <a:lnTo>
                  <a:pt x="243621" y="318197"/>
                </a:lnTo>
                <a:lnTo>
                  <a:pt x="251234" y="313671"/>
                </a:lnTo>
                <a:lnTo>
                  <a:pt x="258847" y="305977"/>
                </a:lnTo>
                <a:lnTo>
                  <a:pt x="266460" y="293303"/>
                </a:lnTo>
                <a:lnTo>
                  <a:pt x="274073" y="266145"/>
                </a:lnTo>
                <a:lnTo>
                  <a:pt x="281687" y="227219"/>
                </a:lnTo>
                <a:lnTo>
                  <a:pt x="289300" y="191009"/>
                </a:lnTo>
                <a:lnTo>
                  <a:pt x="296913" y="249851"/>
                </a:lnTo>
                <a:lnTo>
                  <a:pt x="304526" y="275198"/>
                </a:lnTo>
                <a:lnTo>
                  <a:pt x="312139" y="295566"/>
                </a:lnTo>
                <a:lnTo>
                  <a:pt x="319752" y="306429"/>
                </a:lnTo>
                <a:lnTo>
                  <a:pt x="327365" y="315029"/>
                </a:lnTo>
                <a:lnTo>
                  <a:pt x="334979" y="323629"/>
                </a:lnTo>
                <a:lnTo>
                  <a:pt x="342592" y="329513"/>
                </a:lnTo>
                <a:lnTo>
                  <a:pt x="350205" y="335397"/>
                </a:lnTo>
                <a:lnTo>
                  <a:pt x="357818" y="339471"/>
                </a:lnTo>
                <a:lnTo>
                  <a:pt x="365431" y="343092"/>
                </a:lnTo>
                <a:lnTo>
                  <a:pt x="373044" y="346713"/>
                </a:lnTo>
                <a:lnTo>
                  <a:pt x="380658" y="349429"/>
                </a:lnTo>
                <a:lnTo>
                  <a:pt x="388271" y="351239"/>
                </a:lnTo>
                <a:lnTo>
                  <a:pt x="395884" y="353050"/>
                </a:lnTo>
                <a:lnTo>
                  <a:pt x="403497" y="352597"/>
                </a:lnTo>
                <a:lnTo>
                  <a:pt x="411110" y="273387"/>
                </a:lnTo>
                <a:lnTo>
                  <a:pt x="418723" y="361197"/>
                </a:lnTo>
                <a:lnTo>
                  <a:pt x="426336" y="362102"/>
                </a:lnTo>
                <a:lnTo>
                  <a:pt x="433950" y="361650"/>
                </a:lnTo>
                <a:lnTo>
                  <a:pt x="441563" y="360745"/>
                </a:lnTo>
                <a:lnTo>
                  <a:pt x="449176" y="358934"/>
                </a:lnTo>
                <a:lnTo>
                  <a:pt x="456789" y="353050"/>
                </a:lnTo>
                <a:lnTo>
                  <a:pt x="464402" y="344903"/>
                </a:lnTo>
                <a:lnTo>
                  <a:pt x="472015" y="329966"/>
                </a:lnTo>
                <a:lnTo>
                  <a:pt x="479628" y="280177"/>
                </a:lnTo>
                <a:lnTo>
                  <a:pt x="487242" y="235819"/>
                </a:lnTo>
                <a:lnTo>
                  <a:pt x="494855" y="312766"/>
                </a:lnTo>
                <a:lnTo>
                  <a:pt x="502468" y="329966"/>
                </a:lnTo>
                <a:lnTo>
                  <a:pt x="510081" y="338566"/>
                </a:lnTo>
                <a:lnTo>
                  <a:pt x="517694" y="343545"/>
                </a:lnTo>
                <a:lnTo>
                  <a:pt x="525307" y="344450"/>
                </a:lnTo>
                <a:lnTo>
                  <a:pt x="532921" y="343997"/>
                </a:lnTo>
                <a:lnTo>
                  <a:pt x="540534" y="341734"/>
                </a:lnTo>
                <a:lnTo>
                  <a:pt x="548147" y="339018"/>
                </a:lnTo>
                <a:lnTo>
                  <a:pt x="555760" y="334039"/>
                </a:lnTo>
                <a:lnTo>
                  <a:pt x="563373" y="329061"/>
                </a:lnTo>
                <a:lnTo>
                  <a:pt x="570986" y="323629"/>
                </a:lnTo>
                <a:lnTo>
                  <a:pt x="578599" y="314124"/>
                </a:lnTo>
                <a:lnTo>
                  <a:pt x="586213" y="305071"/>
                </a:lnTo>
                <a:lnTo>
                  <a:pt x="593826" y="293756"/>
                </a:lnTo>
                <a:lnTo>
                  <a:pt x="601439" y="273387"/>
                </a:lnTo>
                <a:lnTo>
                  <a:pt x="609052" y="249398"/>
                </a:lnTo>
                <a:lnTo>
                  <a:pt x="616665" y="167472"/>
                </a:lnTo>
                <a:lnTo>
                  <a:pt x="624278" y="201872"/>
                </a:lnTo>
                <a:lnTo>
                  <a:pt x="631891" y="248493"/>
                </a:lnTo>
                <a:lnTo>
                  <a:pt x="639505" y="277914"/>
                </a:lnTo>
                <a:lnTo>
                  <a:pt x="647118" y="291945"/>
                </a:lnTo>
                <a:lnTo>
                  <a:pt x="654731" y="302808"/>
                </a:lnTo>
                <a:lnTo>
                  <a:pt x="662344" y="313671"/>
                </a:lnTo>
                <a:lnTo>
                  <a:pt x="669957" y="320461"/>
                </a:lnTo>
                <a:lnTo>
                  <a:pt x="677570" y="328155"/>
                </a:lnTo>
              </a:path>
            </a:pathLst>
          </a:custGeom>
          <a:ln w="254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23810" y="1178433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</a:t>
            </a:r>
            <a:pPr algn="ctr"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ŷ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48740" y="1682496"/>
            <a:ext cx="68580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1348740" y="1943100"/>
            <a:ext cx="685800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886200" y="1682496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3886200" y="1943100"/>
            <a:ext cx="548640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189220" y="1771650"/>
            <a:ext cx="939546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5189220" y="1970532"/>
            <a:ext cx="939546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81394" y="1771650"/>
            <a:ext cx="1145286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6581394" y="1970532"/>
            <a:ext cx="1145286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348740" y="3314700"/>
            <a:ext cx="68580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886200" y="3314700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189220" y="3314700"/>
            <a:ext cx="116586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6355080" y="1997964"/>
            <a:ext cx="0" cy="1316736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6451092" y="245745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pPr algn="l" indent="0" marL="0">
              <a:buNone/>
            </a:pPr>
            <a:r>
              <a:rPr lang="en-US" sz="8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shared by both directions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2248281"/>
            <a:ext cx="24688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inverse: </a:t>
            </a:r>
            <a:pPr algn="ctr" indent="0" marL="0">
              <a:buNone/>
            </a:pPr>
            <a:r>
              <a:rPr lang="en-US" sz="850" b="1" i="1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algn="ctr" indent="0" marL="0">
              <a:buNone/>
            </a:pPr>
            <a:r>
              <a:rPr lang="en-US" sz="850" baseline="3000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</a:t>
            </a:r>
            <a:pPr algn="ctr" indent="0" marL="0">
              <a:buNone/>
            </a:pPr>
            <a:r>
              <a:rPr lang="en-US" sz="85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pPr algn="ctr" indent="0" marL="0">
              <a:buNone/>
            </a:pPr>
            <a:r>
              <a:rPr lang="en-US" sz="85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pPr algn="ctr" indent="0" marL="0">
              <a:buNone/>
            </a:pPr>
            <a:r>
              <a:rPr lang="en-US" sz="850" i="1" baseline="3000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ctr" indent="0" marL="0">
              <a:buNone/>
            </a:pPr>
            <a:r>
              <a:rPr lang="en-US" sz="85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850" i="1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algn="ctr" indent="0" marL="0">
              <a:buNone/>
            </a:pPr>
            <a:r>
              <a:rPr lang="en-US" sz="85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pPr algn="ctr" indent="0" marL="0">
              <a:buNone/>
            </a:pPr>
            <a:r>
              <a:rPr lang="en-US" sz="850" i="1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pPr algn="ctr" indent="0" marL="0">
              <a:buNone/>
            </a:pPr>
            <a:r>
              <a:rPr lang="en-US" sz="850" baseline="-4000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85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pPr algn="ctr" indent="0" marL="0">
              <a:buNone/>
            </a:pPr>
            <a:r>
              <a:rPr lang="en-US" sz="85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pPr algn="ctr" indent="0" marL="0">
              <a:buNone/>
            </a:pPr>
            <a:r>
              <a:rPr lang="en-US" sz="850" i="1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89370" y="3451860"/>
            <a:ext cx="41148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869430" y="3348990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6A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forward: design → ERP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 flipH="1">
            <a:off x="6389370" y="3671316"/>
            <a:ext cx="411480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6869430" y="3568446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6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inverse: ERP → designs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85900" y="589788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Invertible operators: iFNO and its variants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65860"/>
            <a:ext cx="891540" cy="685800"/>
          </a:xfrm>
          <a:prstGeom prst="roundRect">
            <a:avLst>
              <a:gd name="adj" fmla="val 10667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6354" y="1381448"/>
            <a:ext cx="713232" cy="254624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433" y="1470870"/>
            <a:ext cx="75781" cy="757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4785" y="1470870"/>
            <a:ext cx="75781" cy="757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330" y="881253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</a:t>
            </a:r>
            <a:pPr algn="ctr" indent="0" marL="0">
              <a:buNone/>
            </a:pPr>
            <a:r>
              <a:rPr lang="en-US" sz="95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95260" y="1165860"/>
            <a:ext cx="891540" cy="685800"/>
          </a:xfrm>
          <a:prstGeom prst="roundRect">
            <a:avLst>
              <a:gd name="adj" fmla="val 10667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902245" y="1234440"/>
            <a:ext cx="0" cy="52120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02245" y="1755648"/>
            <a:ext cx="7132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20076" y="1275588"/>
            <a:ext cx="677570" cy="452628"/>
          </a:xfrm>
          <a:custGeom>
            <a:avLst/>
            <a:gdLst/>
            <a:ahLst/>
            <a:cxnLst/>
            <a:rect l="l" t="t" r="r" b="b"/>
            <a:pathLst>
              <a:path w="677570" h="452628">
                <a:moveTo>
                  <a:pt x="0" y="452628"/>
                </a:moveTo>
                <a:lnTo>
                  <a:pt x="7613" y="444933"/>
                </a:lnTo>
                <a:lnTo>
                  <a:pt x="15226" y="438144"/>
                </a:lnTo>
                <a:lnTo>
                  <a:pt x="22839" y="429544"/>
                </a:lnTo>
                <a:lnTo>
                  <a:pt x="30453" y="423660"/>
                </a:lnTo>
                <a:lnTo>
                  <a:pt x="38066" y="418228"/>
                </a:lnTo>
                <a:lnTo>
                  <a:pt x="45679" y="411439"/>
                </a:lnTo>
                <a:lnTo>
                  <a:pt x="53292" y="406460"/>
                </a:lnTo>
                <a:lnTo>
                  <a:pt x="60905" y="401481"/>
                </a:lnTo>
                <a:lnTo>
                  <a:pt x="68518" y="394692"/>
                </a:lnTo>
                <a:lnTo>
                  <a:pt x="76132" y="389713"/>
                </a:lnTo>
                <a:lnTo>
                  <a:pt x="83745" y="383376"/>
                </a:lnTo>
                <a:lnTo>
                  <a:pt x="91358" y="377944"/>
                </a:lnTo>
                <a:lnTo>
                  <a:pt x="98971" y="372513"/>
                </a:lnTo>
                <a:lnTo>
                  <a:pt x="106584" y="364818"/>
                </a:lnTo>
                <a:lnTo>
                  <a:pt x="114197" y="358029"/>
                </a:lnTo>
                <a:lnTo>
                  <a:pt x="121810" y="350787"/>
                </a:lnTo>
                <a:lnTo>
                  <a:pt x="129424" y="339018"/>
                </a:lnTo>
                <a:lnTo>
                  <a:pt x="137037" y="327703"/>
                </a:lnTo>
                <a:lnTo>
                  <a:pt x="144650" y="303713"/>
                </a:lnTo>
                <a:lnTo>
                  <a:pt x="152263" y="262072"/>
                </a:lnTo>
                <a:lnTo>
                  <a:pt x="159876" y="248945"/>
                </a:lnTo>
                <a:lnTo>
                  <a:pt x="167489" y="347618"/>
                </a:lnTo>
                <a:lnTo>
                  <a:pt x="175102" y="360745"/>
                </a:lnTo>
                <a:lnTo>
                  <a:pt x="182716" y="337208"/>
                </a:lnTo>
                <a:lnTo>
                  <a:pt x="190329" y="300092"/>
                </a:lnTo>
                <a:lnTo>
                  <a:pt x="197942" y="259356"/>
                </a:lnTo>
                <a:lnTo>
                  <a:pt x="205555" y="202777"/>
                </a:lnTo>
                <a:lnTo>
                  <a:pt x="213168" y="267956"/>
                </a:lnTo>
                <a:lnTo>
                  <a:pt x="220781" y="292850"/>
                </a:lnTo>
                <a:lnTo>
                  <a:pt x="228395" y="310050"/>
                </a:lnTo>
                <a:lnTo>
                  <a:pt x="236008" y="316387"/>
                </a:lnTo>
                <a:lnTo>
                  <a:pt x="243621" y="318197"/>
                </a:lnTo>
                <a:lnTo>
                  <a:pt x="251234" y="313671"/>
                </a:lnTo>
                <a:lnTo>
                  <a:pt x="258847" y="305977"/>
                </a:lnTo>
                <a:lnTo>
                  <a:pt x="266460" y="293303"/>
                </a:lnTo>
                <a:lnTo>
                  <a:pt x="274073" y="266145"/>
                </a:lnTo>
                <a:lnTo>
                  <a:pt x="281687" y="227219"/>
                </a:lnTo>
                <a:lnTo>
                  <a:pt x="289300" y="191009"/>
                </a:lnTo>
                <a:lnTo>
                  <a:pt x="296913" y="249851"/>
                </a:lnTo>
                <a:lnTo>
                  <a:pt x="304526" y="275198"/>
                </a:lnTo>
                <a:lnTo>
                  <a:pt x="312139" y="295566"/>
                </a:lnTo>
                <a:lnTo>
                  <a:pt x="319752" y="306429"/>
                </a:lnTo>
                <a:lnTo>
                  <a:pt x="327365" y="315029"/>
                </a:lnTo>
                <a:lnTo>
                  <a:pt x="334979" y="323629"/>
                </a:lnTo>
                <a:lnTo>
                  <a:pt x="342592" y="329513"/>
                </a:lnTo>
                <a:lnTo>
                  <a:pt x="350205" y="335397"/>
                </a:lnTo>
                <a:lnTo>
                  <a:pt x="357818" y="339471"/>
                </a:lnTo>
                <a:lnTo>
                  <a:pt x="365431" y="343092"/>
                </a:lnTo>
                <a:lnTo>
                  <a:pt x="373044" y="346713"/>
                </a:lnTo>
                <a:lnTo>
                  <a:pt x="380658" y="349429"/>
                </a:lnTo>
                <a:lnTo>
                  <a:pt x="388271" y="351239"/>
                </a:lnTo>
                <a:lnTo>
                  <a:pt x="395884" y="353050"/>
                </a:lnTo>
                <a:lnTo>
                  <a:pt x="403497" y="352597"/>
                </a:lnTo>
                <a:lnTo>
                  <a:pt x="411110" y="273387"/>
                </a:lnTo>
                <a:lnTo>
                  <a:pt x="418723" y="361197"/>
                </a:lnTo>
                <a:lnTo>
                  <a:pt x="426336" y="362102"/>
                </a:lnTo>
                <a:lnTo>
                  <a:pt x="433950" y="361650"/>
                </a:lnTo>
                <a:lnTo>
                  <a:pt x="441563" y="360745"/>
                </a:lnTo>
                <a:lnTo>
                  <a:pt x="449176" y="358934"/>
                </a:lnTo>
                <a:lnTo>
                  <a:pt x="456789" y="353050"/>
                </a:lnTo>
                <a:lnTo>
                  <a:pt x="464402" y="344903"/>
                </a:lnTo>
                <a:lnTo>
                  <a:pt x="472015" y="329966"/>
                </a:lnTo>
                <a:lnTo>
                  <a:pt x="479628" y="280177"/>
                </a:lnTo>
                <a:lnTo>
                  <a:pt x="487242" y="235819"/>
                </a:lnTo>
                <a:lnTo>
                  <a:pt x="494855" y="312766"/>
                </a:lnTo>
                <a:lnTo>
                  <a:pt x="502468" y="329966"/>
                </a:lnTo>
                <a:lnTo>
                  <a:pt x="510081" y="338566"/>
                </a:lnTo>
                <a:lnTo>
                  <a:pt x="517694" y="343545"/>
                </a:lnTo>
                <a:lnTo>
                  <a:pt x="525307" y="344450"/>
                </a:lnTo>
                <a:lnTo>
                  <a:pt x="532921" y="343997"/>
                </a:lnTo>
                <a:lnTo>
                  <a:pt x="540534" y="341734"/>
                </a:lnTo>
                <a:lnTo>
                  <a:pt x="548147" y="339018"/>
                </a:lnTo>
                <a:lnTo>
                  <a:pt x="555760" y="334039"/>
                </a:lnTo>
                <a:lnTo>
                  <a:pt x="563373" y="329061"/>
                </a:lnTo>
                <a:lnTo>
                  <a:pt x="570986" y="323629"/>
                </a:lnTo>
                <a:lnTo>
                  <a:pt x="578599" y="314124"/>
                </a:lnTo>
                <a:lnTo>
                  <a:pt x="586213" y="305071"/>
                </a:lnTo>
                <a:lnTo>
                  <a:pt x="593826" y="293756"/>
                </a:lnTo>
                <a:lnTo>
                  <a:pt x="601439" y="273387"/>
                </a:lnTo>
                <a:lnTo>
                  <a:pt x="609052" y="249398"/>
                </a:lnTo>
                <a:lnTo>
                  <a:pt x="616665" y="167472"/>
                </a:lnTo>
                <a:lnTo>
                  <a:pt x="624278" y="201872"/>
                </a:lnTo>
                <a:lnTo>
                  <a:pt x="631891" y="248493"/>
                </a:lnTo>
                <a:lnTo>
                  <a:pt x="639505" y="277914"/>
                </a:lnTo>
                <a:lnTo>
                  <a:pt x="647118" y="291945"/>
                </a:lnTo>
                <a:lnTo>
                  <a:pt x="654731" y="302808"/>
                </a:lnTo>
                <a:lnTo>
                  <a:pt x="662344" y="313671"/>
                </a:lnTo>
                <a:lnTo>
                  <a:pt x="669957" y="320461"/>
                </a:lnTo>
                <a:lnTo>
                  <a:pt x="677570" y="328155"/>
                </a:lnTo>
              </a:path>
            </a:pathLst>
          </a:custGeom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92390" y="881253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</a:t>
            </a:r>
            <a:pPr algn="ctr"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ŷ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95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95260" y="2708910"/>
            <a:ext cx="891540" cy="685800"/>
          </a:xfrm>
          <a:prstGeom prst="roundRect">
            <a:avLst>
              <a:gd name="adj" fmla="val 10667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902245" y="2777490"/>
            <a:ext cx="0" cy="521208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2245" y="3298698"/>
            <a:ext cx="71323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20076" y="2818638"/>
            <a:ext cx="677570" cy="452628"/>
          </a:xfrm>
          <a:custGeom>
            <a:avLst/>
            <a:gdLst/>
            <a:ahLst/>
            <a:cxnLst/>
            <a:rect l="l" t="t" r="r" b="b"/>
            <a:pathLst>
              <a:path w="677570" h="452628">
                <a:moveTo>
                  <a:pt x="0" y="452628"/>
                </a:moveTo>
                <a:lnTo>
                  <a:pt x="7613" y="444933"/>
                </a:lnTo>
                <a:lnTo>
                  <a:pt x="15226" y="438144"/>
                </a:lnTo>
                <a:lnTo>
                  <a:pt x="22839" y="429544"/>
                </a:lnTo>
                <a:lnTo>
                  <a:pt x="30453" y="423660"/>
                </a:lnTo>
                <a:lnTo>
                  <a:pt x="38066" y="418228"/>
                </a:lnTo>
                <a:lnTo>
                  <a:pt x="45679" y="411439"/>
                </a:lnTo>
                <a:lnTo>
                  <a:pt x="53292" y="406460"/>
                </a:lnTo>
                <a:lnTo>
                  <a:pt x="60905" y="401481"/>
                </a:lnTo>
                <a:lnTo>
                  <a:pt x="68518" y="394692"/>
                </a:lnTo>
                <a:lnTo>
                  <a:pt x="76132" y="389713"/>
                </a:lnTo>
                <a:lnTo>
                  <a:pt x="83745" y="383376"/>
                </a:lnTo>
                <a:lnTo>
                  <a:pt x="91358" y="377944"/>
                </a:lnTo>
                <a:lnTo>
                  <a:pt x="98971" y="372513"/>
                </a:lnTo>
                <a:lnTo>
                  <a:pt x="106584" y="364818"/>
                </a:lnTo>
                <a:lnTo>
                  <a:pt x="114197" y="358029"/>
                </a:lnTo>
                <a:lnTo>
                  <a:pt x="121810" y="350787"/>
                </a:lnTo>
                <a:lnTo>
                  <a:pt x="129424" y="339018"/>
                </a:lnTo>
                <a:lnTo>
                  <a:pt x="137037" y="327703"/>
                </a:lnTo>
                <a:lnTo>
                  <a:pt x="144650" y="303713"/>
                </a:lnTo>
                <a:lnTo>
                  <a:pt x="152263" y="262072"/>
                </a:lnTo>
                <a:lnTo>
                  <a:pt x="159876" y="248945"/>
                </a:lnTo>
                <a:lnTo>
                  <a:pt x="167489" y="347618"/>
                </a:lnTo>
                <a:lnTo>
                  <a:pt x="175102" y="360745"/>
                </a:lnTo>
                <a:lnTo>
                  <a:pt x="182716" y="337208"/>
                </a:lnTo>
                <a:lnTo>
                  <a:pt x="190329" y="300092"/>
                </a:lnTo>
                <a:lnTo>
                  <a:pt x="197942" y="259356"/>
                </a:lnTo>
                <a:lnTo>
                  <a:pt x="205555" y="202777"/>
                </a:lnTo>
                <a:lnTo>
                  <a:pt x="213168" y="267956"/>
                </a:lnTo>
                <a:lnTo>
                  <a:pt x="220781" y="292850"/>
                </a:lnTo>
                <a:lnTo>
                  <a:pt x="228395" y="310050"/>
                </a:lnTo>
                <a:lnTo>
                  <a:pt x="236008" y="316387"/>
                </a:lnTo>
                <a:lnTo>
                  <a:pt x="243621" y="318197"/>
                </a:lnTo>
                <a:lnTo>
                  <a:pt x="251234" y="313671"/>
                </a:lnTo>
                <a:lnTo>
                  <a:pt x="258847" y="305977"/>
                </a:lnTo>
                <a:lnTo>
                  <a:pt x="266460" y="293303"/>
                </a:lnTo>
                <a:lnTo>
                  <a:pt x="274073" y="266145"/>
                </a:lnTo>
                <a:lnTo>
                  <a:pt x="281687" y="227219"/>
                </a:lnTo>
                <a:lnTo>
                  <a:pt x="289300" y="191009"/>
                </a:lnTo>
                <a:lnTo>
                  <a:pt x="296913" y="249851"/>
                </a:lnTo>
                <a:lnTo>
                  <a:pt x="304526" y="275198"/>
                </a:lnTo>
                <a:lnTo>
                  <a:pt x="312139" y="295566"/>
                </a:lnTo>
                <a:lnTo>
                  <a:pt x="319752" y="306429"/>
                </a:lnTo>
                <a:lnTo>
                  <a:pt x="327365" y="315029"/>
                </a:lnTo>
                <a:lnTo>
                  <a:pt x="334979" y="323629"/>
                </a:lnTo>
                <a:lnTo>
                  <a:pt x="342592" y="329513"/>
                </a:lnTo>
                <a:lnTo>
                  <a:pt x="350205" y="335397"/>
                </a:lnTo>
                <a:lnTo>
                  <a:pt x="357818" y="339471"/>
                </a:lnTo>
                <a:lnTo>
                  <a:pt x="365431" y="343092"/>
                </a:lnTo>
                <a:lnTo>
                  <a:pt x="373044" y="346713"/>
                </a:lnTo>
                <a:lnTo>
                  <a:pt x="380658" y="349429"/>
                </a:lnTo>
                <a:lnTo>
                  <a:pt x="388271" y="351239"/>
                </a:lnTo>
                <a:lnTo>
                  <a:pt x="395884" y="353050"/>
                </a:lnTo>
                <a:lnTo>
                  <a:pt x="403497" y="352597"/>
                </a:lnTo>
                <a:lnTo>
                  <a:pt x="411110" y="273387"/>
                </a:lnTo>
                <a:lnTo>
                  <a:pt x="418723" y="361197"/>
                </a:lnTo>
                <a:lnTo>
                  <a:pt x="426336" y="362102"/>
                </a:lnTo>
                <a:lnTo>
                  <a:pt x="433950" y="361650"/>
                </a:lnTo>
                <a:lnTo>
                  <a:pt x="441563" y="360745"/>
                </a:lnTo>
                <a:lnTo>
                  <a:pt x="449176" y="358934"/>
                </a:lnTo>
                <a:lnTo>
                  <a:pt x="456789" y="353050"/>
                </a:lnTo>
                <a:lnTo>
                  <a:pt x="464402" y="344903"/>
                </a:lnTo>
                <a:lnTo>
                  <a:pt x="472015" y="329966"/>
                </a:lnTo>
                <a:lnTo>
                  <a:pt x="479628" y="280177"/>
                </a:lnTo>
                <a:lnTo>
                  <a:pt x="487242" y="235819"/>
                </a:lnTo>
                <a:lnTo>
                  <a:pt x="494855" y="312766"/>
                </a:lnTo>
                <a:lnTo>
                  <a:pt x="502468" y="329966"/>
                </a:lnTo>
                <a:lnTo>
                  <a:pt x="510081" y="338566"/>
                </a:lnTo>
                <a:lnTo>
                  <a:pt x="517694" y="343545"/>
                </a:lnTo>
                <a:lnTo>
                  <a:pt x="525307" y="344450"/>
                </a:lnTo>
                <a:lnTo>
                  <a:pt x="532921" y="343997"/>
                </a:lnTo>
                <a:lnTo>
                  <a:pt x="540534" y="341734"/>
                </a:lnTo>
                <a:lnTo>
                  <a:pt x="548147" y="339018"/>
                </a:lnTo>
                <a:lnTo>
                  <a:pt x="555760" y="334039"/>
                </a:lnTo>
                <a:lnTo>
                  <a:pt x="563373" y="329061"/>
                </a:lnTo>
                <a:lnTo>
                  <a:pt x="570986" y="323629"/>
                </a:lnTo>
                <a:lnTo>
                  <a:pt x="578599" y="314124"/>
                </a:lnTo>
                <a:lnTo>
                  <a:pt x="586213" y="305071"/>
                </a:lnTo>
                <a:lnTo>
                  <a:pt x="593826" y="293756"/>
                </a:lnTo>
                <a:lnTo>
                  <a:pt x="601439" y="273387"/>
                </a:lnTo>
                <a:lnTo>
                  <a:pt x="609052" y="249398"/>
                </a:lnTo>
                <a:lnTo>
                  <a:pt x="616665" y="167472"/>
                </a:lnTo>
                <a:lnTo>
                  <a:pt x="624278" y="201872"/>
                </a:lnTo>
                <a:lnTo>
                  <a:pt x="631891" y="248493"/>
                </a:lnTo>
                <a:lnTo>
                  <a:pt x="639505" y="277914"/>
                </a:lnTo>
                <a:lnTo>
                  <a:pt x="647118" y="291945"/>
                </a:lnTo>
                <a:lnTo>
                  <a:pt x="654731" y="302808"/>
                </a:lnTo>
                <a:lnTo>
                  <a:pt x="662344" y="313671"/>
                </a:lnTo>
                <a:lnTo>
                  <a:pt x="669957" y="320461"/>
                </a:lnTo>
                <a:lnTo>
                  <a:pt x="677570" y="328155"/>
                </a:lnTo>
              </a:path>
            </a:pathLst>
          </a:custGeom>
          <a:ln w="254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55230" y="3480435"/>
            <a:ext cx="1371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ERP </a:t>
            </a:r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708910"/>
            <a:ext cx="891540" cy="685800"/>
          </a:xfrm>
          <a:prstGeom prst="roundRect">
            <a:avLst>
              <a:gd name="adj" fmla="val 10667"/>
            </a:avLst>
          </a:prstGeom>
          <a:solidFill>
            <a:srgbClr val="DBE8F6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6354" y="2924498"/>
            <a:ext cx="713232" cy="254624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433" y="3013920"/>
            <a:ext cx="75781" cy="757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85" y="3013920"/>
            <a:ext cx="75781" cy="757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4330" y="3480435"/>
            <a:ext cx="10972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designs </a:t>
            </a:r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1131570"/>
            <a:ext cx="1234440" cy="754380"/>
          </a:xfrm>
          <a:prstGeom prst="roundRect">
            <a:avLst>
              <a:gd name="adj" fmla="val 9697"/>
            </a:avLst>
          </a:prstGeom>
          <a:solidFill>
            <a:srgbClr val="D9E8F7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</a:t>
            </a:r>
            <a:pPr algn="ctr" indent="0" marL="0">
              <a:buNone/>
            </a:pPr>
            <a:r>
              <a:rPr lang="en-US" sz="1200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design, </a:t>
            </a:r>
            <a:pPr algn="ctr" indent="0" marL="0">
              <a:buNone/>
            </a:pPr>
            <a:r>
              <a:rPr lang="en-US" sz="750" i="1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→ latent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65960" y="2674620"/>
            <a:ext cx="1234440" cy="754380"/>
          </a:xfrm>
          <a:prstGeom prst="roundRect">
            <a:avLst>
              <a:gd name="adj" fmla="val 9697"/>
            </a:avLst>
          </a:prstGeom>
          <a:solidFill>
            <a:srgbClr val="FDE7D3"/>
          </a:solidFill>
          <a:ln w="15875">
            <a:solidFill>
              <a:srgbClr val="EBA46F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Readout </a:t>
            </a:r>
            <a:pPr algn="ctr" indent="0" marL="0">
              <a:buNone/>
            </a:pPr>
            <a:r>
              <a:rPr lang="en-US" sz="1200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′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→ design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1131570"/>
            <a:ext cx="1234440" cy="754380"/>
          </a:xfrm>
          <a:prstGeom prst="roundRect">
            <a:avLst>
              <a:gd name="adj" fmla="val 9697"/>
            </a:avLst>
          </a:prstGeom>
          <a:solidFill>
            <a:srgbClr val="D9E8F7"/>
          </a:solidFill>
          <a:ln w="15875">
            <a:solidFill>
              <a:srgbClr val="8FB4D9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Readout </a:t>
            </a:r>
            <a:pPr algn="ctr" indent="0" marL="0">
              <a:buNone/>
            </a:pPr>
            <a:r>
              <a:rPr lang="en-US" sz="1200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→ ERP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2674620"/>
            <a:ext cx="1234440" cy="754380"/>
          </a:xfrm>
          <a:prstGeom prst="roundRect">
            <a:avLst>
              <a:gd name="adj" fmla="val 9697"/>
            </a:avLst>
          </a:prstGeom>
          <a:solidFill>
            <a:srgbClr val="FDE7D3"/>
          </a:solidFill>
          <a:ln w="15875">
            <a:solidFill>
              <a:srgbClr val="EBA46F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</a:t>
            </a:r>
            <a:pPr algn="ctr" indent="0" marL="0">
              <a:buNone/>
            </a:pPr>
            <a:r>
              <a:rPr lang="en-US" sz="1200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′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→ latent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925830"/>
            <a:ext cx="1645920" cy="2640330"/>
          </a:xfrm>
          <a:prstGeom prst="roundRect">
            <a:avLst>
              <a:gd name="adj" fmla="val 4444"/>
            </a:avLst>
          </a:prstGeom>
          <a:solidFill>
            <a:srgbClr val="EBE2F5"/>
          </a:solidFill>
          <a:ln w="15875">
            <a:solidFill>
              <a:srgbClr val="B39AD1"/>
            </a:solidFill>
            <a:prstDash val="solid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8" name="Text 26"/>
          <p:cNvSpPr txBox="1"/>
          <p:nvPr/>
        </p:nvSpPr>
        <p:spPr>
          <a:xfrm>
            <a:off x="3817620" y="9601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Coupling stack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817620" y="1186434"/>
            <a:ext cx="1508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weights both ways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886200" y="1577340"/>
            <a:ext cx="1371600" cy="1200150"/>
          </a:xfrm>
          <a:prstGeom prst="roundRect">
            <a:avLst>
              <a:gd name="adj" fmla="val 6095"/>
            </a:avLst>
          </a:prstGeom>
          <a:solidFill>
            <a:srgbClr val="FDE7D3"/>
          </a:solidFill>
          <a:ln w="28575">
            <a:solidFill>
              <a:srgbClr val="EBA46F"/>
            </a:solidFill>
            <a:prstDash val="dash"/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</a:t>
            </a:r>
            <a:pPr algn="ctr" indent="0" marL="0">
              <a:buNone/>
            </a:pPr>
            <a:r>
              <a:rPr lang="en-US" sz="1100" i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with the model: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iFNO, iDCO, iGNO, iDNO,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iWNO, iLNO, iSIREN, iSTO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48740" y="1508760"/>
            <a:ext cx="61722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00400" y="1508760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394960" y="1508760"/>
            <a:ext cx="54864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78040" y="1508760"/>
            <a:ext cx="617220" cy="0"/>
          </a:xfrm>
          <a:prstGeom prst="line">
            <a:avLst/>
          </a:prstGeom>
          <a:noFill/>
          <a:ln w="19050">
            <a:solidFill>
              <a:srgbClr val="3D6A9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7178040" y="3051810"/>
            <a:ext cx="617220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5394960" y="3051810"/>
            <a:ext cx="548640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3200400" y="3051810"/>
            <a:ext cx="548640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1348740" y="3051810"/>
            <a:ext cx="617220" cy="0"/>
          </a:xfrm>
          <a:prstGeom prst="line">
            <a:avLst/>
          </a:prstGeom>
          <a:noFill/>
          <a:ln w="19050">
            <a:solidFill>
              <a:srgbClr val="E8632B"/>
            </a:solidFill>
            <a:prstDash val="dash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800100" y="3621024"/>
            <a:ext cx="7543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coupling stack is an exact bijection; a β-VAE on the design estimate gives several candidate designs.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diagrams</dc:title>
  <dc:subject>PptxGenJS Presentation</dc:subject>
  <dc:creator>PptxGenJS</dc:creator>
  <cp:lastModifiedBy>PptxGenJS</cp:lastModifiedBy>
  <cp:revision>1</cp:revision>
  <dcterms:created xsi:type="dcterms:W3CDTF">2026-10-06T07:10:09Z</dcterms:created>
  <dcterms:modified xsi:type="dcterms:W3CDTF">2026-10-06T07:10:09Z</dcterms:modified>
</cp:coreProperties>
</file>